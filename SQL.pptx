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9"/>
  </p:notesMasterIdLst>
  <p:sldIdLst>
    <p:sldId id="256" r:id="rId2"/>
    <p:sldId id="343" r:id="rId3"/>
    <p:sldId id="346" r:id="rId4"/>
    <p:sldId id="349" r:id="rId5"/>
    <p:sldId id="344" r:id="rId6"/>
    <p:sldId id="345" r:id="rId7"/>
    <p:sldId id="347" r:id="rId8"/>
    <p:sldId id="350" r:id="rId9"/>
    <p:sldId id="351" r:id="rId10"/>
    <p:sldId id="352" r:id="rId11"/>
    <p:sldId id="353" r:id="rId12"/>
    <p:sldId id="355" r:id="rId13"/>
    <p:sldId id="356" r:id="rId14"/>
    <p:sldId id="257" r:id="rId15"/>
    <p:sldId id="258" r:id="rId16"/>
    <p:sldId id="259" r:id="rId17"/>
    <p:sldId id="260" r:id="rId18"/>
    <p:sldId id="261" r:id="rId19"/>
    <p:sldId id="262" r:id="rId20"/>
    <p:sldId id="267" r:id="rId21"/>
    <p:sldId id="268" r:id="rId22"/>
    <p:sldId id="272" r:id="rId23"/>
    <p:sldId id="269" r:id="rId24"/>
    <p:sldId id="270" r:id="rId25"/>
    <p:sldId id="271" r:id="rId26"/>
    <p:sldId id="263" r:id="rId27"/>
    <p:sldId id="264" r:id="rId28"/>
    <p:sldId id="265" r:id="rId29"/>
    <p:sldId id="277" r:id="rId30"/>
    <p:sldId id="278" r:id="rId31"/>
    <p:sldId id="283" r:id="rId32"/>
    <p:sldId id="279" r:id="rId33"/>
    <p:sldId id="280" r:id="rId34"/>
    <p:sldId id="281" r:id="rId35"/>
    <p:sldId id="282" r:id="rId36"/>
    <p:sldId id="266" r:id="rId37"/>
    <p:sldId id="273" r:id="rId38"/>
    <p:sldId id="274" r:id="rId39"/>
    <p:sldId id="275" r:id="rId40"/>
    <p:sldId id="276" r:id="rId41"/>
    <p:sldId id="284" r:id="rId42"/>
    <p:sldId id="285" r:id="rId43"/>
    <p:sldId id="286" r:id="rId44"/>
    <p:sldId id="287" r:id="rId45"/>
    <p:sldId id="288" r:id="rId46"/>
    <p:sldId id="289" r:id="rId47"/>
    <p:sldId id="291" r:id="rId48"/>
    <p:sldId id="306" r:id="rId49"/>
    <p:sldId id="307" r:id="rId50"/>
    <p:sldId id="308" r:id="rId51"/>
    <p:sldId id="290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42" r:id="rId66"/>
    <p:sldId id="305" r:id="rId67"/>
    <p:sldId id="309" r:id="rId68"/>
    <p:sldId id="311" r:id="rId69"/>
    <p:sldId id="319" r:id="rId70"/>
    <p:sldId id="320" r:id="rId71"/>
    <p:sldId id="321" r:id="rId72"/>
    <p:sldId id="322" r:id="rId73"/>
    <p:sldId id="313" r:id="rId74"/>
    <p:sldId id="330" r:id="rId75"/>
    <p:sldId id="331" r:id="rId76"/>
    <p:sldId id="332" r:id="rId77"/>
    <p:sldId id="333" r:id="rId78"/>
    <p:sldId id="315" r:id="rId79"/>
    <p:sldId id="316" r:id="rId80"/>
    <p:sldId id="335" r:id="rId81"/>
    <p:sldId id="317" r:id="rId82"/>
    <p:sldId id="323" r:id="rId83"/>
    <p:sldId id="324" r:id="rId84"/>
    <p:sldId id="357" r:id="rId85"/>
    <p:sldId id="358" r:id="rId86"/>
    <p:sldId id="359" r:id="rId87"/>
    <p:sldId id="325" r:id="rId88"/>
    <p:sldId id="326" r:id="rId89"/>
    <p:sldId id="327" r:id="rId90"/>
    <p:sldId id="328" r:id="rId91"/>
    <p:sldId id="329" r:id="rId92"/>
    <p:sldId id="336" r:id="rId93"/>
    <p:sldId id="337" r:id="rId94"/>
    <p:sldId id="338" r:id="rId95"/>
    <p:sldId id="340" r:id="rId96"/>
    <p:sldId id="341" r:id="rId97"/>
    <p:sldId id="339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53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C32F4-DA3F-41C5-97A8-6AB6B3FE0EA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854EB-BFED-4BCA-8A51-D02FA1FED5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49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AB1C7-8137-8290-426E-4EE0CF2D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D8ADE-7699-A6AC-971B-32DDFD723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7DCFC-AD3A-9909-A860-7C118469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EA08-8D6D-45ED-9070-0CB28343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FAC26-9DF1-0390-DB7E-DFEAB954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5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0E51-D4D5-E045-69C0-4B9ED34E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C6F83-7760-A645-1E64-051AF78CC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E7C34-FCE4-6E20-113F-C985A93D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AA477-17F0-CF63-364B-F118FA51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EA5AC-E1AD-590D-740A-44E8577D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3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DC9C-C9F2-9AF8-CB47-BA237F42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6D011-8CF5-5580-AA30-6091A2047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1ED76-4F5C-E349-3BA1-F39A8096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15083-C360-25A1-BF43-EB70E66E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03740-8FA6-A041-6258-F5F579C5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56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442D-5017-245B-80D6-4832F93A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0D0A4-7FCB-1A78-2548-F0D7405A9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13947-0505-3125-3EDF-0F51F8041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2DDC3-88D2-E739-D26E-7E183B1C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A1911-8BC3-4AA9-7A94-D09ECD98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BCBEA-341A-BB39-D084-196314D9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7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F0F2-8171-6A89-FBA4-00687E08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4E60D-5312-B23A-C981-6ACF178B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C7190-7E51-6766-AB53-451A2FE9C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EE0D8-8E5F-35E3-F98E-DDC4CFDED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3F29D-9D84-AAD9-0425-0C531A8A7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55177-A152-9633-158F-9A9007C3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B9132-09AF-BE69-D648-2E7274A1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D9F9E-C883-F2FB-FBC8-FD37F54B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15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1B0-8869-D21A-8FF2-1FEF8061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D2CC1-5E95-4842-F8E5-16B9D504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9ADA1-D97C-9AD3-22B1-247DE83F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FFCA5-D407-EC9A-E386-72145422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97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74141-E2DF-C7B6-B204-C331200A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A7674-B6EB-0A5C-6D59-AFBF94DD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7F68B-6119-E3C4-5A46-A684E880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01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E312-011F-5C88-DAD1-394B6778C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0CD39-15F3-3B4E-51A4-EBC57D42C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3B638-4E69-4F55-776D-0E13572D3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87282-43CE-7949-20CC-27FE87119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3180C-E6AA-A70A-FB09-26DF2F294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01143-6A0E-72F6-3B1E-3E3DDD9A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92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C93C-62B6-7920-78BF-B3B64EE32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CCADD-F93D-AC8E-947C-94F6623867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C935E-DC91-41E8-DFB4-BD5401049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B6651-A1B5-C1BE-651E-E458A2D5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D43D3-7851-E122-3363-9AA684F8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A0E36-2F1A-001B-8B36-5E8E2B7A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40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7305-985D-3D1D-6185-DC13D7E0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03872-EFE3-8B55-BBFE-31974675F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99B8D-576D-A49C-D7CD-6512F008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30807-1EEC-EB23-6056-DA2EA750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E668-B1E2-A8F3-7385-14A9E6FB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46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56001B-A9AF-05F3-9829-126725C83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50AFC-5E9B-3D65-838C-E1861740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5BFAD-ABAA-48C1-8489-F59C8FCF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92B53-40A3-8554-5663-4B0CA5CC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D9492-00CE-0F01-945A-C4FD768F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28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E6AB2-122E-8671-0536-9CAFAC27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487A5-8195-4A86-E9F6-5B401FFF6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2843-3E99-0783-0187-9AB2AA198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C2E5B-A8FC-4611-9A0A-88A2C59123DB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FEBFC-1B8C-1542-F7AD-19C5A5FDE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7AB9B-1D95-3219-0D99-6B0C76228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A8503-95A7-4DAD-9886-62E2F386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90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E054-2902-020F-F997-DBE7571A4C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AE4F8-256E-CA4F-8D0E-E43C3BD59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1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DD74-0560-8B79-F972-A9683AC2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486562"/>
            <a:ext cx="10623958" cy="569040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is SQL?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SQL is the universal translator that allows you to communicate with databases—asking questions, retrieving information, and efficiently making changes to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94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2FF4-7790-DC22-8BC5-9B524460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7121F-A460-33B7-AD38-758047905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486562"/>
            <a:ext cx="10623958" cy="5690402"/>
          </a:xfrm>
        </p:spPr>
        <p:txBody>
          <a:bodyPr/>
          <a:lstStyle/>
          <a:p>
            <a:r>
              <a:rPr lang="en-US" dirty="0"/>
              <a:t>SQL was developed at </a:t>
            </a:r>
            <a:r>
              <a:rPr lang="en-US" b="1" dirty="0"/>
              <a:t>IBM</a:t>
            </a:r>
            <a:r>
              <a:rPr lang="en-US" dirty="0"/>
              <a:t> in the </a:t>
            </a:r>
            <a:r>
              <a:rPr lang="en-US" b="1" dirty="0"/>
              <a:t>early 1970s</a:t>
            </a:r>
            <a:r>
              <a:rPr lang="en-US" dirty="0"/>
              <a:t>.</a:t>
            </a:r>
          </a:p>
          <a:p>
            <a:r>
              <a:rPr lang="en-US" dirty="0"/>
              <a:t>It was created by </a:t>
            </a:r>
            <a:r>
              <a:rPr lang="en-US" b="1" dirty="0"/>
              <a:t>Donald D. Chamberlin</a:t>
            </a:r>
            <a:r>
              <a:rPr lang="en-US" dirty="0"/>
              <a:t> and </a:t>
            </a:r>
            <a:r>
              <a:rPr lang="en-US" b="1" dirty="0"/>
              <a:t>Raymond F. Boyce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Originally, it was called </a:t>
            </a:r>
            <a:r>
              <a:rPr lang="en-US" b="1" dirty="0"/>
              <a:t>SEQUEL</a:t>
            </a:r>
            <a:r>
              <a:rPr lang="en-US" dirty="0"/>
              <a:t> (Structured English Query Language), and later shortened to </a:t>
            </a:r>
            <a:r>
              <a:rPr lang="en-US" b="1" dirty="0"/>
              <a:t>SQL</a:t>
            </a:r>
            <a:r>
              <a:rPr lang="en-US" dirty="0"/>
              <a:t>.</a:t>
            </a:r>
          </a:p>
          <a:p>
            <a:r>
              <a:rPr lang="en-US" dirty="0"/>
              <a:t>They designed it to work with IBM’s </a:t>
            </a:r>
            <a:r>
              <a:rPr lang="en-US" b="1" dirty="0"/>
              <a:t>relational database model</a:t>
            </a:r>
            <a:r>
              <a:rPr lang="en-US" dirty="0"/>
              <a:t>, which was based on ideas from </a:t>
            </a:r>
            <a:r>
              <a:rPr lang="en-US" b="1" dirty="0"/>
              <a:t>Edgar F. Codd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28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9DE1B-690A-F15D-CCE1-A5867DBC2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231" y="469783"/>
            <a:ext cx="10615569" cy="5707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MySQL</a:t>
            </a:r>
            <a:r>
              <a:rPr lang="en-US" dirty="0"/>
              <a:t> was launched by the Swedish company </a:t>
            </a:r>
            <a:r>
              <a:rPr lang="en-US" b="1" dirty="0"/>
              <a:t>MySQL AB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was </a:t>
            </a:r>
            <a:r>
              <a:rPr lang="en-US" b="1" dirty="0"/>
              <a:t>developed by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Michael “Monty” </a:t>
            </a:r>
            <a:r>
              <a:rPr lang="en-US" b="1" dirty="0" err="1"/>
              <a:t>Widenius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David Axmark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Allan Larsson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first version of MySQL was released in </a:t>
            </a:r>
            <a:r>
              <a:rPr lang="en-US" b="1" dirty="0"/>
              <a:t>1995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Later on:</a:t>
            </a:r>
          </a:p>
          <a:p>
            <a:pPr marL="0" indent="0">
              <a:buNone/>
            </a:pPr>
            <a:r>
              <a:rPr lang="en-US" b="1" dirty="0"/>
              <a:t>Sun Microsystems</a:t>
            </a:r>
            <a:r>
              <a:rPr lang="en-US" dirty="0"/>
              <a:t> acquired MySQL AB in 2008</a:t>
            </a:r>
          </a:p>
          <a:p>
            <a:pPr marL="0" indent="0">
              <a:buNone/>
            </a:pPr>
            <a:r>
              <a:rPr lang="en-US" b="1" dirty="0"/>
              <a:t>Oracle Corporation</a:t>
            </a:r>
            <a:r>
              <a:rPr lang="en-US" dirty="0"/>
              <a:t> acquired Sun (and MySQL) in 2010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534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2FD53-534D-861F-7602-6220BF4B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FBCA-CDC5-1BD2-3426-D8D5AC1A5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486562"/>
            <a:ext cx="10623958" cy="569040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Where is SQL used?</a:t>
            </a:r>
          </a:p>
          <a:p>
            <a:r>
              <a:rPr lang="en-US" dirty="0"/>
              <a:t>Websites (login systems, profiles, orders)</a:t>
            </a:r>
          </a:p>
          <a:p>
            <a:r>
              <a:rPr lang="en-US" dirty="0"/>
              <a:t>Apps (banking, shopping, social media)</a:t>
            </a:r>
          </a:p>
          <a:p>
            <a:r>
              <a:rPr lang="en-US" dirty="0"/>
              <a:t>Data analysis &amp; reporting</a:t>
            </a:r>
          </a:p>
          <a:p>
            <a:r>
              <a:rPr lang="en-US" dirty="0"/>
              <a:t>Backend development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784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6080-8BA1-553C-91D3-392F851D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2D14-D26C-601D-144D-9CF97B0EE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486562"/>
            <a:ext cx="10623958" cy="569040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Popular SQL databases</a:t>
            </a:r>
          </a:p>
          <a:p>
            <a:r>
              <a:rPr lang="en-IN" dirty="0"/>
              <a:t>MySQL</a:t>
            </a:r>
          </a:p>
          <a:p>
            <a:r>
              <a:rPr lang="en-IN" dirty="0"/>
              <a:t>PostgreSQL</a:t>
            </a:r>
          </a:p>
          <a:p>
            <a:r>
              <a:rPr lang="en-IN" dirty="0"/>
              <a:t>SQLite</a:t>
            </a:r>
          </a:p>
          <a:p>
            <a:r>
              <a:rPr lang="en-IN" dirty="0"/>
              <a:t>Oracle</a:t>
            </a:r>
          </a:p>
          <a:p>
            <a:r>
              <a:rPr lang="en-IN" dirty="0"/>
              <a:t>SQL Server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76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56289-FCCA-41B3-BE20-DD786C037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38DED-35F4-36C0-F5DC-FC624017B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486562"/>
            <a:ext cx="10623958" cy="569040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What is database?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an </a:t>
            </a:r>
            <a:r>
              <a:rPr lang="en-US" b="1" dirty="0"/>
              <a:t>organized collection of data</a:t>
            </a:r>
            <a:r>
              <a:rPr lang="en-US" dirty="0"/>
              <a:t> that is stored electronically so it can be </a:t>
            </a:r>
            <a:r>
              <a:rPr lang="en-US" b="1" dirty="0"/>
              <a:t>easily accessed, managed, and updated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Simple example</a:t>
            </a:r>
          </a:p>
          <a:p>
            <a:pPr>
              <a:lnSpc>
                <a:spcPct val="100000"/>
              </a:lnSpc>
            </a:pPr>
            <a:r>
              <a:rPr lang="en-US" dirty="0"/>
              <a:t>A school database might store:</a:t>
            </a:r>
          </a:p>
          <a:p>
            <a:pPr>
              <a:lnSpc>
                <a:spcPct val="100000"/>
              </a:lnSpc>
            </a:pPr>
            <a:r>
              <a:rPr lang="en-US" dirty="0"/>
              <a:t>Student names</a:t>
            </a:r>
          </a:p>
          <a:p>
            <a:pPr>
              <a:lnSpc>
                <a:spcPct val="100000"/>
              </a:lnSpc>
            </a:pPr>
            <a:r>
              <a:rPr lang="en-US" dirty="0"/>
              <a:t>Roll numbers</a:t>
            </a:r>
          </a:p>
          <a:p>
            <a:pPr>
              <a:lnSpc>
                <a:spcPct val="100000"/>
              </a:lnSpc>
            </a:pPr>
            <a:r>
              <a:rPr lang="en-US" dirty="0"/>
              <a:t>Classes</a:t>
            </a:r>
          </a:p>
          <a:p>
            <a:pPr>
              <a:lnSpc>
                <a:spcPct val="100000"/>
              </a:lnSpc>
            </a:pPr>
            <a:r>
              <a:rPr lang="en-US" dirty="0"/>
              <a:t>Marks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29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5BAC9-E809-0CC4-AA60-F35D6303B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5"/>
            <a:ext cx="10515600" cy="564006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Why databases are used</a:t>
            </a:r>
          </a:p>
          <a:p>
            <a:pPr>
              <a:lnSpc>
                <a:spcPct val="150000"/>
              </a:lnSpc>
            </a:pPr>
            <a:r>
              <a:rPr lang="en-US" dirty="0"/>
              <a:t>Store </a:t>
            </a:r>
            <a:r>
              <a:rPr lang="en-US" b="1" dirty="0"/>
              <a:t>large amounts of data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Retrieve data </a:t>
            </a:r>
            <a:r>
              <a:rPr lang="en-US" b="1" dirty="0"/>
              <a:t>quickly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Keep data </a:t>
            </a:r>
            <a:r>
              <a:rPr lang="en-US" b="1" dirty="0"/>
              <a:t>accurate and secure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Allow multiple users to access data at the same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338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392D9-20FB-D811-F0E0-388254F1D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FBB36-4A03-79ED-FB38-8BE7746FB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5"/>
            <a:ext cx="10515600" cy="564006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SQL vs NOSQL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92B2F7-1989-53AC-0960-06217355E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941809"/>
              </p:ext>
            </p:extLst>
          </p:nvPr>
        </p:nvGraphicFramePr>
        <p:xfrm>
          <a:off x="838200" y="1518407"/>
          <a:ext cx="10515600" cy="390927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324222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135258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6552035"/>
                    </a:ext>
                  </a:extLst>
                </a:gridCol>
              </a:tblGrid>
              <a:tr h="45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863579"/>
                  </a:ext>
                </a:extLst>
              </a:tr>
              <a:tr h="45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Query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Only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68665"/>
                  </a:ext>
                </a:extLst>
              </a:tr>
              <a:tr h="804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Tables (rows &amp; columns)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Documents, key-value, wide-column, graphs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126250"/>
                  </a:ext>
                </a:extLst>
              </a:tr>
              <a:tr h="45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 / predefined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Flexible / dynamic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083573"/>
                  </a:ext>
                </a:extLst>
              </a:tr>
              <a:tr h="804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Structured, relational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Large, unstructured or semi-structured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868550"/>
                  </a:ext>
                </a:extLst>
              </a:tr>
              <a:tr h="45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Query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Database-specific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385747"/>
                  </a:ext>
                </a:extLst>
              </a:tr>
              <a:tr h="459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MySQL, Oracle, 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MongoDB, Cassandra, Redis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202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2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1370-D98E-915A-FB45-80F9BFB8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19130-2ECE-ECFD-0DC1-55D0B3D5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5"/>
            <a:ext cx="10515600" cy="5640068"/>
          </a:xfrm>
        </p:spPr>
        <p:txBody>
          <a:bodyPr/>
          <a:lstStyle/>
          <a:p>
            <a:r>
              <a:rPr lang="en-US" b="1" dirty="0"/>
              <a:t>SQL Datatypes</a:t>
            </a:r>
          </a:p>
          <a:p>
            <a:r>
              <a:rPr lang="en-US" dirty="0"/>
              <a:t>Datatypes define </a:t>
            </a:r>
            <a:r>
              <a:rPr lang="en-US" b="1" dirty="0"/>
              <a:t>what kind of data</a:t>
            </a:r>
            <a:r>
              <a:rPr lang="en-US" dirty="0"/>
              <a:t> a column can store.</a:t>
            </a:r>
          </a:p>
          <a:p>
            <a:pPr marL="0" indent="0">
              <a:buNone/>
            </a:pPr>
            <a:r>
              <a:rPr lang="en-US" b="1" dirty="0"/>
              <a:t>1. Numeric Datatypes</a:t>
            </a:r>
          </a:p>
          <a:p>
            <a:r>
              <a:rPr lang="en-US" dirty="0"/>
              <a:t>Used for numbers.</a:t>
            </a:r>
          </a:p>
          <a:p>
            <a:r>
              <a:rPr lang="en-US" b="1" dirty="0"/>
              <a:t>INT / INTEGER</a:t>
            </a:r>
            <a:r>
              <a:rPr lang="en-US" dirty="0"/>
              <a:t> – whole numbers</a:t>
            </a:r>
          </a:p>
          <a:p>
            <a:r>
              <a:rPr lang="en-US" b="1" dirty="0"/>
              <a:t>SMALLINT</a:t>
            </a:r>
            <a:r>
              <a:rPr lang="en-US" dirty="0"/>
              <a:t> – small whole numbers</a:t>
            </a:r>
          </a:p>
          <a:p>
            <a:r>
              <a:rPr lang="en-US" b="1" dirty="0"/>
              <a:t>BIGINT</a:t>
            </a:r>
            <a:r>
              <a:rPr lang="en-US" dirty="0"/>
              <a:t> – very large numbers</a:t>
            </a:r>
          </a:p>
          <a:p>
            <a:r>
              <a:rPr lang="en-US" b="1" dirty="0"/>
              <a:t>DECIMAL(</a:t>
            </a:r>
            <a:r>
              <a:rPr lang="en-US" b="1" dirty="0" err="1"/>
              <a:t>p,s</a:t>
            </a:r>
            <a:r>
              <a:rPr lang="en-US" b="1" dirty="0"/>
              <a:t>) / NUMERIC</a:t>
            </a:r>
            <a:r>
              <a:rPr lang="en-US" dirty="0"/>
              <a:t> – exact decimal values</a:t>
            </a:r>
          </a:p>
          <a:p>
            <a:r>
              <a:rPr lang="en-US" b="1" dirty="0"/>
              <a:t>FLOAT / DOUBLE</a:t>
            </a:r>
            <a:r>
              <a:rPr lang="en-US" dirty="0"/>
              <a:t> – decimal values (approximate)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05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2752-585F-6EF1-DF09-9B5B336A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480E-7245-7DDE-27B6-E9B27E691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5"/>
            <a:ext cx="10515600" cy="56400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Character / String Datatypes</a:t>
            </a:r>
          </a:p>
          <a:p>
            <a:r>
              <a:rPr lang="en-US" dirty="0"/>
              <a:t>Used for text.</a:t>
            </a:r>
          </a:p>
          <a:p>
            <a:r>
              <a:rPr lang="en-US" b="1" dirty="0"/>
              <a:t>CHAR(n)</a:t>
            </a:r>
            <a:r>
              <a:rPr lang="en-US" dirty="0"/>
              <a:t> – fixed-length text</a:t>
            </a:r>
          </a:p>
          <a:p>
            <a:r>
              <a:rPr lang="en-US" b="1" dirty="0"/>
              <a:t>VARCHAR(n)</a:t>
            </a:r>
            <a:r>
              <a:rPr lang="en-US" dirty="0"/>
              <a:t> – variable-length text</a:t>
            </a:r>
          </a:p>
          <a:p>
            <a:r>
              <a:rPr lang="en-US" b="1" dirty="0"/>
              <a:t>TEXT</a:t>
            </a:r>
            <a:r>
              <a:rPr lang="en-US" dirty="0"/>
              <a:t> – long text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6758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7C70-E757-D9A1-8B26-C05F5BBC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6D9A-70B2-45FF-D3EE-A586F31AC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5"/>
            <a:ext cx="10515600" cy="56400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Date &amp; Time Datatypes</a:t>
            </a:r>
          </a:p>
          <a:p>
            <a:r>
              <a:rPr lang="en-US" dirty="0"/>
              <a:t>Used for dates and time.</a:t>
            </a:r>
          </a:p>
          <a:p>
            <a:r>
              <a:rPr lang="en-US" b="1" dirty="0"/>
              <a:t>DATE</a:t>
            </a:r>
            <a:r>
              <a:rPr lang="en-US" dirty="0"/>
              <a:t> – YYYY-MM-DD</a:t>
            </a:r>
          </a:p>
          <a:p>
            <a:r>
              <a:rPr lang="en-US" b="1" dirty="0"/>
              <a:t>TIME</a:t>
            </a:r>
            <a:r>
              <a:rPr lang="en-US" dirty="0"/>
              <a:t> – HH:MM:SS</a:t>
            </a:r>
          </a:p>
          <a:p>
            <a:r>
              <a:rPr lang="en-US" b="1" dirty="0"/>
              <a:t>DATETIME / TIMESTAMP</a:t>
            </a:r>
            <a:r>
              <a:rPr lang="en-US" dirty="0"/>
              <a:t> – date + time</a:t>
            </a:r>
          </a:p>
        </p:txBody>
      </p:sp>
    </p:spTree>
    <p:extLst>
      <p:ext uri="{BB962C8B-B14F-4D97-AF65-F5344CB8AC3E}">
        <p14:creationId xmlns:p14="http://schemas.microsoft.com/office/powerpoint/2010/main" val="1836446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CD5A-6ABC-1174-050D-3462E6AA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Subsets of </a:t>
            </a:r>
            <a:r>
              <a:rPr lang="en-IN" dirty="0" err="1"/>
              <a:t>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58C92-A6D6-F743-B174-76727B330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Dql-select,selection,projection,join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645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8BDC8-F374-4E40-82D2-7E0B2BB23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28" y="453006"/>
            <a:ext cx="10842072" cy="57239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5100" dirty="0"/>
              <a:t>DDL(data definition language)</a:t>
            </a:r>
          </a:p>
          <a:p>
            <a:pPr marL="0" indent="0">
              <a:buNone/>
            </a:pPr>
            <a:r>
              <a:rPr lang="en-IN" dirty="0"/>
              <a:t>1.To create database:</a:t>
            </a:r>
          </a:p>
          <a:p>
            <a:pPr marL="0" indent="0">
              <a:buNone/>
            </a:pPr>
            <a:r>
              <a:rPr lang="en-IN" dirty="0"/>
              <a:t>Create database </a:t>
            </a:r>
            <a:r>
              <a:rPr lang="en-IN" dirty="0" err="1"/>
              <a:t>database_name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2.Want to use specific database:</a:t>
            </a:r>
          </a:p>
          <a:p>
            <a:pPr marL="0" indent="0">
              <a:buNone/>
            </a:pPr>
            <a:r>
              <a:rPr lang="en-IN" dirty="0"/>
              <a:t>Use </a:t>
            </a:r>
            <a:r>
              <a:rPr lang="en-IN" dirty="0" err="1"/>
              <a:t>database_name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3.To create table :</a:t>
            </a:r>
          </a:p>
          <a:p>
            <a:pPr marL="0" indent="0">
              <a:buNone/>
            </a:pPr>
            <a:r>
              <a:rPr lang="en-IN" dirty="0"/>
              <a:t>Create table </a:t>
            </a:r>
            <a:r>
              <a:rPr lang="en-IN" dirty="0" err="1"/>
              <a:t>table_name</a:t>
            </a:r>
            <a:r>
              <a:rPr lang="en-IN" dirty="0"/>
              <a:t>(</a:t>
            </a:r>
            <a:r>
              <a:rPr lang="en-IN" dirty="0" err="1"/>
              <a:t>column_name</a:t>
            </a:r>
            <a:r>
              <a:rPr lang="en-IN" dirty="0"/>
              <a:t> with datatype:  ex: id int);</a:t>
            </a:r>
          </a:p>
          <a:p>
            <a:pPr marL="0" indent="0">
              <a:buNone/>
            </a:pPr>
            <a:r>
              <a:rPr lang="en-IN" dirty="0"/>
              <a:t>4.To rename the table:</a:t>
            </a:r>
          </a:p>
          <a:p>
            <a:pPr marL="0" indent="0">
              <a:buNone/>
            </a:pPr>
            <a:r>
              <a:rPr lang="en-IN" dirty="0"/>
              <a:t>Rename table </a:t>
            </a:r>
            <a:r>
              <a:rPr lang="en-IN" dirty="0" err="1"/>
              <a:t>old_name</a:t>
            </a:r>
            <a:r>
              <a:rPr lang="en-IN" dirty="0"/>
              <a:t> to </a:t>
            </a:r>
            <a:r>
              <a:rPr lang="en-IN" dirty="0" err="1"/>
              <a:t>new_name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5.To get table details:</a:t>
            </a:r>
          </a:p>
          <a:p>
            <a:pPr marL="0" indent="0">
              <a:buNone/>
            </a:pPr>
            <a:r>
              <a:rPr lang="en-IN" dirty="0"/>
              <a:t>Describe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6.To add single column:</a:t>
            </a:r>
          </a:p>
          <a:p>
            <a:pPr marL="0" indent="0">
              <a:buNone/>
            </a:pPr>
            <a:r>
              <a:rPr lang="en-IN" dirty="0"/>
              <a:t>Alter table </a:t>
            </a:r>
            <a:r>
              <a:rPr lang="en-IN" dirty="0" err="1"/>
              <a:t>table_name</a:t>
            </a:r>
            <a:r>
              <a:rPr lang="en-IN" dirty="0"/>
              <a:t> add column </a:t>
            </a:r>
            <a:r>
              <a:rPr lang="en-IN" dirty="0" err="1"/>
              <a:t>column_name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91099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A174F-3347-62E4-A4B0-5D35A7B3A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174"/>
            <a:ext cx="10515600" cy="55477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7.To add multiple columns:</a:t>
            </a:r>
          </a:p>
          <a:p>
            <a:pPr marL="0" indent="0">
              <a:buNone/>
            </a:pPr>
            <a:r>
              <a:rPr lang="en-IN" dirty="0"/>
              <a:t>Alter table </a:t>
            </a:r>
            <a:r>
              <a:rPr lang="en-IN" dirty="0" err="1"/>
              <a:t>table_name</a:t>
            </a:r>
            <a:r>
              <a:rPr lang="en-IN" dirty="0"/>
              <a:t> add column column_name1,add column column_name2;</a:t>
            </a:r>
          </a:p>
          <a:p>
            <a:pPr marL="0" indent="0">
              <a:buNone/>
            </a:pPr>
            <a:r>
              <a:rPr lang="en-IN" dirty="0"/>
              <a:t>8.To </a:t>
            </a:r>
            <a:r>
              <a:rPr lang="en-US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Modify Existing Column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Alter table </a:t>
            </a:r>
            <a:r>
              <a:rPr lang="en-IN" dirty="0" err="1"/>
              <a:t>table_name</a:t>
            </a:r>
            <a:r>
              <a:rPr lang="en-IN" dirty="0"/>
              <a:t> modify column </a:t>
            </a:r>
            <a:r>
              <a:rPr lang="en-IN" dirty="0" err="1"/>
              <a:t>column_name</a:t>
            </a:r>
            <a:r>
              <a:rPr lang="en-IN" dirty="0"/>
              <a:t> datatype;</a:t>
            </a:r>
          </a:p>
          <a:p>
            <a:pPr marL="0" indent="0">
              <a:buNone/>
            </a:pPr>
            <a:r>
              <a:rPr lang="en-IN" dirty="0"/>
              <a:t>9.To rename column name</a:t>
            </a:r>
          </a:p>
          <a:p>
            <a:pPr marL="0" indent="0">
              <a:buNone/>
            </a:pPr>
            <a:r>
              <a:rPr lang="en-IN" dirty="0"/>
              <a:t>Alter table </a:t>
            </a:r>
            <a:r>
              <a:rPr lang="en-IN" dirty="0" err="1"/>
              <a:t>table_name</a:t>
            </a:r>
            <a:r>
              <a:rPr lang="en-IN" dirty="0"/>
              <a:t> rename column </a:t>
            </a:r>
            <a:r>
              <a:rPr lang="en-IN" dirty="0" err="1"/>
              <a:t>old_column_name</a:t>
            </a:r>
            <a:r>
              <a:rPr lang="en-IN" dirty="0"/>
              <a:t> to </a:t>
            </a:r>
            <a:r>
              <a:rPr lang="en-IN" dirty="0" err="1"/>
              <a:t>new_column_name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10.To drop a particular column:</a:t>
            </a:r>
          </a:p>
          <a:p>
            <a:pPr marL="0" indent="0">
              <a:buNone/>
            </a:pPr>
            <a:r>
              <a:rPr lang="en-IN" dirty="0"/>
              <a:t>Alter table </a:t>
            </a:r>
            <a:r>
              <a:rPr lang="en-IN" dirty="0" err="1"/>
              <a:t>table_name</a:t>
            </a:r>
            <a:r>
              <a:rPr lang="en-IN" dirty="0"/>
              <a:t> drop column </a:t>
            </a:r>
            <a:r>
              <a:rPr lang="en-IN" dirty="0" err="1"/>
              <a:t>column_name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11.To remove all table </a:t>
            </a:r>
            <a:r>
              <a:rPr lang="en-IN" dirty="0" err="1"/>
              <a:t>datas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Truncate table </a:t>
            </a:r>
            <a:r>
              <a:rPr lang="en-IN" dirty="0" err="1"/>
              <a:t>table_name</a:t>
            </a:r>
            <a:r>
              <a:rPr lang="en-IN" dirty="0"/>
              <a:t>; or delete from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12.To delete table with table structure:</a:t>
            </a:r>
          </a:p>
          <a:p>
            <a:pPr marL="0" indent="0">
              <a:buNone/>
            </a:pPr>
            <a:r>
              <a:rPr lang="en-IN" dirty="0"/>
              <a:t>Drop table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5899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8C4C7-11B3-08E5-825E-7FFC5CD3F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28506"/>
            <a:ext cx="10649125" cy="564845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DQL(Data Query language)</a:t>
            </a:r>
          </a:p>
          <a:p>
            <a:pPr marL="0" indent="0">
              <a:buNone/>
            </a:pPr>
            <a:r>
              <a:rPr lang="en-IN" dirty="0"/>
              <a:t>13.To view the table:</a:t>
            </a:r>
          </a:p>
          <a:p>
            <a:pPr marL="0" indent="0">
              <a:buNone/>
            </a:pPr>
            <a:r>
              <a:rPr lang="en-IN" dirty="0"/>
              <a:t>Select * from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14.To view particular column in table:</a:t>
            </a:r>
          </a:p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column_name</a:t>
            </a:r>
            <a:r>
              <a:rPr lang="en-IN" dirty="0"/>
              <a:t> from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15.To get particular row in table:</a:t>
            </a:r>
          </a:p>
          <a:p>
            <a:pPr marL="0" indent="0">
              <a:buNone/>
            </a:pPr>
            <a:r>
              <a:rPr lang="en-IN" dirty="0"/>
              <a:t>Select * from </a:t>
            </a:r>
            <a:r>
              <a:rPr lang="en-IN" dirty="0" err="1"/>
              <a:t>table_name</a:t>
            </a:r>
            <a:r>
              <a:rPr lang="en-IN" dirty="0"/>
              <a:t> where </a:t>
            </a:r>
            <a:r>
              <a:rPr lang="en-IN" dirty="0" err="1"/>
              <a:t>column_name</a:t>
            </a:r>
            <a:r>
              <a:rPr lang="en-IN" dirty="0"/>
              <a:t>=value;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989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87BF-5748-6367-EBEA-287E0C86D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07" y="494950"/>
            <a:ext cx="10749793" cy="56820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DML(Data Manipulation Language)</a:t>
            </a:r>
          </a:p>
          <a:p>
            <a:pPr marL="0" indent="0">
              <a:buNone/>
            </a:pPr>
            <a:r>
              <a:rPr lang="en-IN" dirty="0"/>
              <a:t>16.To insert table data</a:t>
            </a:r>
          </a:p>
          <a:p>
            <a:pPr marL="0" indent="0">
              <a:buNone/>
            </a:pPr>
            <a:r>
              <a:rPr lang="en-IN" dirty="0"/>
              <a:t>Insert into </a:t>
            </a:r>
            <a:r>
              <a:rPr lang="en-IN" dirty="0" err="1"/>
              <a:t>table_name</a:t>
            </a:r>
            <a:r>
              <a:rPr lang="en-IN" dirty="0"/>
              <a:t> values(row1 values),(row2 values),etc;</a:t>
            </a:r>
          </a:p>
          <a:p>
            <a:pPr marL="0" indent="0">
              <a:buNone/>
            </a:pPr>
            <a:r>
              <a:rPr lang="en-IN" dirty="0"/>
              <a:t>17.To update table values:</a:t>
            </a:r>
          </a:p>
          <a:p>
            <a:pPr marL="0" indent="0">
              <a:buNone/>
            </a:pPr>
            <a:r>
              <a:rPr lang="en-IN" dirty="0"/>
              <a:t>In </a:t>
            </a:r>
            <a:r>
              <a:rPr lang="en-IN" dirty="0" err="1"/>
              <a:t>mysql</a:t>
            </a:r>
            <a:r>
              <a:rPr lang="en-IN" dirty="0"/>
              <a:t> workbench before update to write this line</a:t>
            </a:r>
          </a:p>
          <a:p>
            <a:pPr marL="0" indent="0">
              <a:buNone/>
            </a:pPr>
            <a:r>
              <a:rPr lang="en-IN" dirty="0"/>
              <a:t>Set </a:t>
            </a:r>
            <a:r>
              <a:rPr lang="en-IN" dirty="0" err="1"/>
              <a:t>sql_safe_updates</a:t>
            </a:r>
            <a:r>
              <a:rPr lang="en-IN" dirty="0"/>
              <a:t>=0;</a:t>
            </a:r>
          </a:p>
          <a:p>
            <a:pPr marL="0" indent="0">
              <a:buNone/>
            </a:pPr>
            <a:r>
              <a:rPr lang="en-IN" dirty="0"/>
              <a:t>Update </a:t>
            </a:r>
            <a:r>
              <a:rPr lang="en-IN" dirty="0" err="1"/>
              <a:t>table_name</a:t>
            </a:r>
            <a:r>
              <a:rPr lang="en-IN" dirty="0"/>
              <a:t> set </a:t>
            </a:r>
            <a:r>
              <a:rPr lang="en-IN" dirty="0" err="1"/>
              <a:t>column_name</a:t>
            </a:r>
            <a:r>
              <a:rPr lang="en-IN" dirty="0"/>
              <a:t>=value where </a:t>
            </a:r>
            <a:r>
              <a:rPr lang="en-IN" dirty="0" err="1"/>
              <a:t>unique_row_name</a:t>
            </a:r>
            <a:r>
              <a:rPr lang="en-IN" dirty="0"/>
              <a:t>=value;</a:t>
            </a:r>
          </a:p>
          <a:p>
            <a:pPr marL="0" indent="0">
              <a:buNone/>
            </a:pPr>
            <a:r>
              <a:rPr lang="en-IN" dirty="0"/>
              <a:t>18.To delete particular row in table</a:t>
            </a:r>
          </a:p>
          <a:p>
            <a:pPr marL="0" indent="0">
              <a:buNone/>
            </a:pPr>
            <a:r>
              <a:rPr lang="en-IN" dirty="0"/>
              <a:t>Delete from </a:t>
            </a:r>
            <a:r>
              <a:rPr lang="en-IN" dirty="0" err="1"/>
              <a:t>table_name</a:t>
            </a:r>
            <a:r>
              <a:rPr lang="en-IN" dirty="0"/>
              <a:t> where </a:t>
            </a:r>
            <a:r>
              <a:rPr lang="en-IN" dirty="0" err="1"/>
              <a:t>column_name</a:t>
            </a:r>
            <a:r>
              <a:rPr lang="en-IN" dirty="0"/>
              <a:t>=value;</a:t>
            </a:r>
          </a:p>
          <a:p>
            <a:pPr marL="0" indent="0">
              <a:buNone/>
            </a:pPr>
            <a:r>
              <a:rPr lang="en-IN" dirty="0"/>
              <a:t>19.To delete one duplicate in the table(first duplicate)</a:t>
            </a:r>
          </a:p>
          <a:p>
            <a:pPr marL="0" indent="0">
              <a:buNone/>
            </a:pPr>
            <a:r>
              <a:rPr lang="en-IN" dirty="0"/>
              <a:t>Delete from </a:t>
            </a:r>
            <a:r>
              <a:rPr lang="en-IN" dirty="0" err="1"/>
              <a:t>table_name</a:t>
            </a:r>
            <a:r>
              <a:rPr lang="en-IN" dirty="0"/>
              <a:t> where </a:t>
            </a:r>
            <a:r>
              <a:rPr lang="en-IN" dirty="0" err="1"/>
              <a:t>column_name</a:t>
            </a:r>
            <a:r>
              <a:rPr lang="en-IN" dirty="0"/>
              <a:t>=value  limit 1;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741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8A2E3-6B11-5942-A49D-EDA5C34DC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696662" cy="560651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DCL(data control language)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grant,revoke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ym typeface="Wingdings" panose="05000000000000000000" pitchFamily="2" charset="2"/>
              </a:rPr>
              <a:t>20.Grant permissions(like </a:t>
            </a:r>
            <a:r>
              <a:rPr lang="en-IN" dirty="0" err="1">
                <a:sym typeface="Wingdings" panose="05000000000000000000" pitchFamily="2" charset="2"/>
              </a:rPr>
              <a:t>select,insert</a:t>
            </a:r>
            <a:r>
              <a:rPr lang="en-IN" dirty="0">
                <a:sym typeface="Wingdings" panose="05000000000000000000" pitchFamily="2" charset="2"/>
              </a:rPr>
              <a:t>) on database_name.* to “another DB”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ym typeface="Wingdings" panose="05000000000000000000" pitchFamily="2" charset="2"/>
              </a:rPr>
              <a:t>Ex: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grant </a:t>
            </a:r>
            <a:r>
              <a:rPr lang="en-US" dirty="0" err="1"/>
              <a:t>select,insert</a:t>
            </a:r>
            <a:r>
              <a:rPr lang="en-US" dirty="0"/>
              <a:t> on livewire.* to "</a:t>
            </a:r>
            <a:r>
              <a:rPr lang="en-US" dirty="0" err="1"/>
              <a:t>jana</a:t>
            </a:r>
            <a:r>
              <a:rPr lang="en-US" dirty="0"/>
              <a:t>";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ym typeface="Wingdings" panose="05000000000000000000" pitchFamily="2" charset="2"/>
              </a:rPr>
              <a:t>21.Revoke  permissions(like </a:t>
            </a:r>
            <a:r>
              <a:rPr lang="en-IN" dirty="0" err="1">
                <a:sym typeface="Wingdings" panose="05000000000000000000" pitchFamily="2" charset="2"/>
              </a:rPr>
              <a:t>select,insert</a:t>
            </a:r>
            <a:r>
              <a:rPr lang="en-IN" dirty="0">
                <a:sym typeface="Wingdings" panose="05000000000000000000" pitchFamily="2" charset="2"/>
              </a:rPr>
              <a:t>) on database_name.* to “another DB”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revoke  </a:t>
            </a:r>
            <a:r>
              <a:rPr lang="en-US" dirty="0" err="1"/>
              <a:t>select,insert</a:t>
            </a:r>
            <a:r>
              <a:rPr lang="en-US" dirty="0"/>
              <a:t> on livewire.* from "</a:t>
            </a:r>
            <a:r>
              <a:rPr lang="en-US" dirty="0" err="1"/>
              <a:t>jana</a:t>
            </a:r>
            <a:r>
              <a:rPr lang="en-US" dirty="0"/>
              <a:t>";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570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D7764-0544-D070-4B99-37A4A6594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453" y="662729"/>
            <a:ext cx="10632347" cy="559545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TCL(Transaction Control Language)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  <a:r>
              <a:rPr lang="en-IN" b="1" dirty="0" err="1">
                <a:sym typeface="Wingdings" panose="05000000000000000000" pitchFamily="2" charset="2"/>
              </a:rPr>
              <a:t>commit,rollback</a:t>
            </a:r>
            <a:endParaRPr lang="en-IN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set </a:t>
            </a:r>
            <a:r>
              <a:rPr lang="en-US" dirty="0" err="1"/>
              <a:t>sql_safe_updates</a:t>
            </a:r>
            <a:r>
              <a:rPr lang="en-US" dirty="0"/>
              <a:t>=0;</a:t>
            </a:r>
          </a:p>
          <a:p>
            <a:pPr marL="0" indent="0">
              <a:buNone/>
            </a:pPr>
            <a:r>
              <a:rPr lang="en-US" dirty="0"/>
              <a:t>update employee set name="</a:t>
            </a:r>
            <a:r>
              <a:rPr lang="en-US" dirty="0" err="1"/>
              <a:t>vishnu</a:t>
            </a:r>
            <a:r>
              <a:rPr lang="en-US" dirty="0"/>
              <a:t>" where empid=10;</a:t>
            </a:r>
          </a:p>
          <a:p>
            <a:pPr marL="0" indent="0">
              <a:buNone/>
            </a:pPr>
            <a:r>
              <a:rPr lang="en-US" dirty="0"/>
              <a:t>begin;</a:t>
            </a:r>
          </a:p>
          <a:p>
            <a:pPr marL="0" indent="0">
              <a:buNone/>
            </a:pPr>
            <a:r>
              <a:rPr lang="en-US" dirty="0"/>
              <a:t>commit;</a:t>
            </a:r>
          </a:p>
          <a:p>
            <a:pPr marL="0" indent="0">
              <a:buNone/>
            </a:pPr>
            <a:r>
              <a:rPr lang="en-US" dirty="0"/>
              <a:t>select * from employee;</a:t>
            </a:r>
          </a:p>
          <a:p>
            <a:pPr marL="0" indent="0">
              <a:buNone/>
            </a:pPr>
            <a:r>
              <a:rPr lang="en-US" dirty="0"/>
              <a:t>rollback;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517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882A-1AC2-F133-8A21-7C744711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C084F-4089-8A6A-4DF4-ACE4075F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IN" b="1" dirty="0"/>
              <a:t>Arithmetic Operators</a:t>
            </a:r>
          </a:p>
          <a:p>
            <a:pPr marL="0" indent="0">
              <a:buNone/>
            </a:pPr>
            <a:r>
              <a:rPr lang="en-IN" b="1" dirty="0"/>
              <a:t>select 5+6;</a:t>
            </a:r>
          </a:p>
          <a:p>
            <a:pPr marL="0" indent="0">
              <a:buNone/>
            </a:pPr>
            <a:r>
              <a:rPr lang="en-US" b="1" dirty="0"/>
              <a:t>update employee set salary=salary+5000 where name="</a:t>
            </a:r>
            <a:r>
              <a:rPr lang="en-US" b="1" dirty="0" err="1"/>
              <a:t>keerthi</a:t>
            </a:r>
            <a:r>
              <a:rPr lang="en-US" b="1" dirty="0"/>
              <a:t>";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9CA099-4B4C-1278-A5F0-A1845C5BC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12566"/>
              </p:ext>
            </p:extLst>
          </p:nvPr>
        </p:nvGraphicFramePr>
        <p:xfrm>
          <a:off x="838200" y="3286971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09687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681208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6625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222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+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5 + 3;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861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-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5 - 3;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33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*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5 * 3;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06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10 / 2;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536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</a:t>
                      </a:r>
                      <a:r>
                        <a:rPr lang="en-IN"/>
                        <a:t> or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MOD()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Modulus (remainder)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SELECT 10 % 3;</a:t>
                      </a:r>
                      <a:r>
                        <a:rPr lang="en-US" dirty="0"/>
                        <a:t> (MySQL/SQL Server)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7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657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9AFB0-5DEC-C3E6-8E93-DDF71C74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772C1-872F-A0AB-2CFB-F225F88D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2.Comparison Operators</a:t>
            </a:r>
          </a:p>
          <a:p>
            <a:pPr marL="0" indent="0">
              <a:buNone/>
            </a:pPr>
            <a:r>
              <a:rPr lang="en-US" dirty="0"/>
              <a:t>Used in WHERE clauses.</a:t>
            </a:r>
          </a:p>
          <a:p>
            <a:pPr marL="0" indent="0">
              <a:buNone/>
            </a:pPr>
            <a:r>
              <a:rPr lang="en-US" dirty="0"/>
              <a:t>select * from employee where salary&lt;=30000;</a:t>
            </a:r>
          </a:p>
          <a:p>
            <a:pPr marL="0" indent="0">
              <a:buNone/>
            </a:pPr>
            <a:r>
              <a:rPr lang="en-US" dirty="0"/>
              <a:t>select * from employee where salary=25000;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CD9FEB-4137-3D13-FDBA-44EAB4C2F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048180"/>
              </p:ext>
            </p:extLst>
          </p:nvPr>
        </p:nvGraphicFramePr>
        <p:xfrm>
          <a:off x="838200" y="2982780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395955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23539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1243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28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=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WHERE age = 18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6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&lt;&gt;</a:t>
                      </a:r>
                      <a:r>
                        <a:rPr lang="en-IN"/>
                        <a:t> or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!=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WHERE status &lt;&gt; 'active'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41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&gt;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WHERE salary &gt; 5000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993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WHERE age &lt; 30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37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&gt;=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Greater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WHERE points &gt;= 100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48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&lt;=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WHERE price &lt;= 50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937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943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B6F1-4E36-BEF2-72F6-95FE36B22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7C20-2B87-5FE9-77AA-C1DA3A3AD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Bitwise Operators</a:t>
            </a:r>
          </a:p>
          <a:p>
            <a:pPr marL="0" indent="0">
              <a:buNone/>
            </a:pPr>
            <a:r>
              <a:rPr lang="en-US" dirty="0"/>
              <a:t>(Some differences across SQL engines)</a:t>
            </a:r>
          </a:p>
          <a:p>
            <a:pPr marL="0" indent="0">
              <a:buNone/>
            </a:pPr>
            <a:r>
              <a:rPr lang="en-US" dirty="0"/>
              <a:t>select 5&amp;1;</a:t>
            </a:r>
          </a:p>
          <a:p>
            <a:pPr marL="0" indent="0">
              <a:buNone/>
            </a:pPr>
            <a:r>
              <a:rPr lang="en-US" dirty="0"/>
              <a:t>select 5|1;</a:t>
            </a:r>
          </a:p>
          <a:p>
            <a:pPr marL="0" indent="0">
              <a:buNone/>
            </a:pPr>
            <a:r>
              <a:rPr lang="en-US" dirty="0"/>
              <a:t>select 5^1;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232047-4E56-B421-AFF1-ACCAF4F08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131085"/>
              </p:ext>
            </p:extLst>
          </p:nvPr>
        </p:nvGraphicFramePr>
        <p:xfrm>
          <a:off x="838200" y="3229506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471703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455561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6235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8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&amp;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Bitwise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5 &amp; 3;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443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Bitwise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684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^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Bitwise XOR (MySQL)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 5 ^ 3;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74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~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Bitwise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SELECT ~5;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06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535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CA492-EBEF-D9B2-FE3D-1ADF7CF6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E3498-0381-41C9-C038-7F7A7C0E3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3.Logical Operators</a:t>
            </a:r>
          </a:p>
          <a:p>
            <a:pPr marL="0" indent="0">
              <a:buNone/>
            </a:pPr>
            <a:r>
              <a:rPr lang="en-IN" dirty="0"/>
              <a:t>Used for combining conditions.</a:t>
            </a:r>
          </a:p>
          <a:p>
            <a:pPr marL="0" indent="0">
              <a:buNone/>
            </a:pPr>
            <a:r>
              <a:rPr lang="en-US" dirty="0"/>
              <a:t>select* from employee where empid&gt;25 and empid&lt;30;</a:t>
            </a:r>
          </a:p>
          <a:p>
            <a:pPr marL="0" indent="0">
              <a:buNone/>
            </a:pPr>
            <a:r>
              <a:rPr lang="en-US" dirty="0"/>
              <a:t>select* from employee where empid&gt;25 or empid&lt;30;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F8CA05-D279-43E6-4C9A-74BA99ED6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414781"/>
              </p:ext>
            </p:extLst>
          </p:nvPr>
        </p:nvGraphicFramePr>
        <p:xfrm>
          <a:off x="745922" y="3252576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766716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022262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80779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8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conditions must be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WHERE age &gt; 18 AND city = 'NY'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047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 least one condition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WHERE role = 'Admin' OR role = 'Manager'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314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NOT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WHERE NOT status = 'Inactive'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67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771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9E2A-3923-2D4C-71B1-CE934DF8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0BF7-EF83-9B28-30AB-40BFEB2B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r>
              <a:rPr lang="en-US" b="1" dirty="0"/>
              <a:t>Special Operators</a:t>
            </a:r>
          </a:p>
          <a:p>
            <a:r>
              <a:rPr lang="en-US" dirty="0"/>
              <a:t>Commonly used in filtering and pattern matching.</a:t>
            </a:r>
          </a:p>
          <a:p>
            <a:r>
              <a:rPr lang="en-US" dirty="0"/>
              <a:t>WHERE name LIKE 'A%'   -- starts with A</a:t>
            </a:r>
          </a:p>
          <a:p>
            <a:r>
              <a:rPr lang="en-US" dirty="0"/>
              <a:t>WHERE name LIKE '%son' -- ends with son</a:t>
            </a:r>
          </a:p>
          <a:p>
            <a:r>
              <a:rPr lang="en-US" dirty="0"/>
              <a:t>WHERE name LIKE '_a%'  -- second letter is 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160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4DB62-7928-A4AA-CDCC-612D2E6F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E574-16A6-481D-E885-A91732BD3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</a:t>
            </a:r>
          </a:p>
          <a:p>
            <a:r>
              <a:rPr lang="en-US" dirty="0"/>
              <a:t>Match any value in a list:</a:t>
            </a:r>
          </a:p>
          <a:p>
            <a:r>
              <a:rPr lang="en-US" dirty="0"/>
              <a:t>WHERE dept IN ('HR', 'IT', 'Finance')</a:t>
            </a:r>
          </a:p>
          <a:p>
            <a:pPr marL="0" indent="0">
              <a:buNone/>
            </a:pPr>
            <a:r>
              <a:rPr lang="en-IN" b="1" dirty="0"/>
              <a:t>BETWEEN</a:t>
            </a:r>
          </a:p>
          <a:p>
            <a:r>
              <a:rPr lang="en-IN" dirty="0"/>
              <a:t>Range check (inclusive):</a:t>
            </a:r>
          </a:p>
          <a:p>
            <a:r>
              <a:rPr lang="en-US" dirty="0"/>
              <a:t>WHERE salary BETWEEN 3000 AND 6000</a:t>
            </a:r>
          </a:p>
          <a:p>
            <a:pPr marL="0" indent="0">
              <a:buNone/>
            </a:pPr>
            <a:r>
              <a:rPr lang="en-US" b="1" dirty="0"/>
              <a:t>IS NULL / IS NOT NULL</a:t>
            </a:r>
          </a:p>
          <a:p>
            <a:pPr marL="0" indent="0">
              <a:buNone/>
            </a:pPr>
            <a:r>
              <a:rPr lang="en-IN" dirty="0"/>
              <a:t>WHERE email IS NULL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060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711A-12D5-04F3-68CD-165F3D6AA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19" y="478172"/>
            <a:ext cx="10682681" cy="569879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SQL Functions</a:t>
            </a:r>
          </a:p>
          <a:p>
            <a:pPr marL="0" indent="0">
              <a:buNone/>
            </a:pPr>
            <a:r>
              <a:rPr lang="en-US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Clause Roles Illustrated</a:t>
            </a:r>
          </a:p>
          <a:p>
            <a:pPr marL="0" indent="0">
              <a:buNone/>
            </a:pPr>
            <a:r>
              <a:rPr lang="en-US" b="1" dirty="0"/>
              <a:t>Aggregate function</a:t>
            </a:r>
            <a:endParaRPr lang="en-US" dirty="0"/>
          </a:p>
          <a:p>
            <a:pPr marL="0" indent="0">
              <a:buNone/>
            </a:pPr>
            <a:r>
              <a:rPr lang="en-IN" b="1" dirty="0"/>
              <a:t>1.Group by</a:t>
            </a:r>
          </a:p>
          <a:p>
            <a:pPr marL="0" indent="0">
              <a:buNone/>
            </a:pPr>
            <a:r>
              <a:rPr lang="en-US" dirty="0"/>
              <a:t>GROUP BY is used to </a:t>
            </a:r>
            <a:r>
              <a:rPr lang="en-US" b="1" dirty="0"/>
              <a:t>group rows</a:t>
            </a:r>
            <a:r>
              <a:rPr lang="en-US" dirty="0"/>
              <a:t> that have the </a:t>
            </a:r>
            <a:r>
              <a:rPr lang="en-US" b="1" dirty="0"/>
              <a:t>same values</a:t>
            </a:r>
            <a:r>
              <a:rPr lang="en-US" dirty="0"/>
              <a:t> in a column and then apply an </a:t>
            </a:r>
            <a:r>
              <a:rPr lang="en-US" b="1" dirty="0"/>
              <a:t>aggregate function</a:t>
            </a:r>
            <a:endParaRPr lang="en-IN" dirty="0"/>
          </a:p>
          <a:p>
            <a:pPr marL="0" indent="0">
              <a:buNone/>
            </a:pPr>
            <a:r>
              <a:rPr lang="en-IN" b="1" dirty="0" err="1"/>
              <a:t>i.count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Select column name count(*) from </a:t>
            </a:r>
            <a:r>
              <a:rPr lang="en-IN" dirty="0" err="1">
                <a:sym typeface="Wingdings" panose="05000000000000000000" pitchFamily="2" charset="2"/>
              </a:rPr>
              <a:t>table_name</a:t>
            </a:r>
            <a:r>
              <a:rPr lang="en-IN" dirty="0">
                <a:sym typeface="Wingdings" panose="05000000000000000000" pitchFamily="2" charset="2"/>
              </a:rPr>
              <a:t> group by </a:t>
            </a:r>
            <a:r>
              <a:rPr lang="en-IN" dirty="0" err="1">
                <a:sym typeface="Wingdings" panose="05000000000000000000" pitchFamily="2" charset="2"/>
              </a:rPr>
              <a:t>column_name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Select  id, count(*) from </a:t>
            </a:r>
            <a:r>
              <a:rPr lang="en-US" dirty="0" err="1"/>
              <a:t>informations</a:t>
            </a:r>
            <a:r>
              <a:rPr lang="en-US" dirty="0"/>
              <a:t> group by id;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976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490FB-D09C-A37F-0E3D-169FAA9AE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IN" b="1" dirty="0" err="1"/>
              <a:t>ii.sum</a:t>
            </a:r>
            <a:r>
              <a:rPr lang="en-IN" b="1" dirty="0"/>
              <a:t>()</a:t>
            </a:r>
          </a:p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column_name</a:t>
            </a:r>
            <a:r>
              <a:rPr lang="en-IN" dirty="0"/>
              <a:t>, sum(</a:t>
            </a:r>
            <a:r>
              <a:rPr lang="en-IN" dirty="0" err="1"/>
              <a:t>another_column</a:t>
            </a:r>
            <a:r>
              <a:rPr lang="en-IN" dirty="0"/>
              <a:t>)  from </a:t>
            </a:r>
            <a:r>
              <a:rPr lang="en-IN" dirty="0" err="1"/>
              <a:t>table_name</a:t>
            </a:r>
            <a:r>
              <a:rPr lang="en-IN" dirty="0"/>
              <a:t> group by </a:t>
            </a:r>
            <a:r>
              <a:rPr lang="en-IN" dirty="0" err="1"/>
              <a:t>column_name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select course, sum(price) from info group by course;</a:t>
            </a:r>
          </a:p>
          <a:p>
            <a:pPr marL="0" indent="0">
              <a:buNone/>
            </a:pPr>
            <a:r>
              <a:rPr lang="en-US" b="1" dirty="0" err="1"/>
              <a:t>iii.avg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course,avg</a:t>
            </a:r>
            <a:r>
              <a:rPr lang="en-US" dirty="0"/>
              <a:t>(price) from info group by course;</a:t>
            </a:r>
          </a:p>
          <a:p>
            <a:pPr marL="0" indent="0">
              <a:buNone/>
            </a:pPr>
            <a:r>
              <a:rPr lang="en-US" b="1" dirty="0" err="1"/>
              <a:t>iv.max</a:t>
            </a:r>
            <a:r>
              <a:rPr lang="en-US" b="1" dirty="0"/>
              <a:t>() and min()</a:t>
            </a:r>
          </a:p>
          <a:p>
            <a:pPr marL="0" indent="0">
              <a:buNone/>
            </a:pPr>
            <a:r>
              <a:rPr lang="en-US" dirty="0"/>
              <a:t>select course, max(price) from info group by course;</a:t>
            </a:r>
          </a:p>
          <a:p>
            <a:pPr marL="0" indent="0">
              <a:buNone/>
            </a:pPr>
            <a:r>
              <a:rPr lang="en-US" dirty="0"/>
              <a:t>select course, min(price) from info group by course;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4208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9E9B-F361-BDB5-06A1-45441913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BEB3-8959-3FE5-1A7E-05E16748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2.Order by</a:t>
            </a:r>
          </a:p>
          <a:p>
            <a:pPr marL="0" indent="0">
              <a:buNone/>
            </a:pPr>
            <a:r>
              <a:rPr lang="en-IN" b="1" dirty="0" err="1"/>
              <a:t>i.Name</a:t>
            </a:r>
            <a:r>
              <a:rPr lang="en-IN" b="1" dirty="0"/>
              <a:t> in ascending order</a:t>
            </a:r>
          </a:p>
          <a:p>
            <a:pPr marL="0" indent="0">
              <a:buNone/>
            </a:pPr>
            <a:r>
              <a:rPr lang="en-US" dirty="0"/>
              <a:t>select * from info order by name;</a:t>
            </a:r>
          </a:p>
          <a:p>
            <a:pPr marL="0" indent="0">
              <a:buNone/>
            </a:pPr>
            <a:r>
              <a:rPr lang="en-US" b="1" dirty="0" err="1"/>
              <a:t>ii.Name</a:t>
            </a:r>
            <a:r>
              <a:rPr lang="en-US" b="1" dirty="0"/>
              <a:t> in descending order</a:t>
            </a:r>
          </a:p>
          <a:p>
            <a:pPr marL="0" indent="0">
              <a:buNone/>
            </a:pPr>
            <a:r>
              <a:rPr lang="en-US" dirty="0"/>
              <a:t>select * from info order by name desc;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770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8390-845D-8ED3-FBA5-3FBBE036B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03340"/>
            <a:ext cx="10649125" cy="567362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Using Aggregate Functions With HAVING</a:t>
            </a:r>
          </a:p>
          <a:p>
            <a:pPr marL="0" indent="0">
              <a:buNone/>
            </a:pPr>
            <a:r>
              <a:rPr lang="en-US" b="1" dirty="0"/>
              <a:t>HAVING filters groups (unlike WHERE, which filters rows).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SELECT department, COUNT(*) AS </a:t>
            </a:r>
            <a:r>
              <a:rPr lang="en-US" dirty="0" err="1"/>
              <a:t>emp_count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GROUP BY department</a:t>
            </a:r>
          </a:p>
          <a:p>
            <a:pPr marL="0" indent="0">
              <a:buNone/>
            </a:pPr>
            <a:r>
              <a:rPr lang="en-US" dirty="0"/>
              <a:t>HAVING COUNT(*) &gt; 5;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680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9E9E3-549B-78AD-B92E-59F1DC23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A8E67-00DE-B1A0-4146-8871FF599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341" y="478172"/>
            <a:ext cx="11014745" cy="59981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Common SQL Date Format Functions by Database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DATE_FORMAT(NOW(), '%Y-%m-%d') AS </a:t>
            </a:r>
            <a:r>
              <a:rPr lang="en-US" dirty="0" err="1"/>
              <a:t>formatted_date</a:t>
            </a:r>
            <a:r>
              <a:rPr lang="en-US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To find  only date from column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EXTRACT(DAY FROM </a:t>
            </a:r>
            <a:r>
              <a:rPr lang="en-US" dirty="0" err="1"/>
              <a:t>actual_column_name</a:t>
            </a:r>
            <a:r>
              <a:rPr lang="en-US" dirty="0"/>
              <a:t>) FROM  </a:t>
            </a:r>
            <a:r>
              <a:rPr lang="en-US" dirty="0" err="1"/>
              <a:t>your_table_name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To find  only month from column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EXTRACT(MONTH FROM </a:t>
            </a:r>
            <a:r>
              <a:rPr lang="en-US" dirty="0" err="1"/>
              <a:t>join_date</a:t>
            </a:r>
            <a:r>
              <a:rPr lang="en-US" dirty="0"/>
              <a:t>) from info;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To find  only year from column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EXTRACT(DAY FROM </a:t>
            </a:r>
            <a:r>
              <a:rPr lang="en-US" dirty="0" err="1"/>
              <a:t>join_date</a:t>
            </a:r>
            <a:r>
              <a:rPr lang="en-US" dirty="0"/>
              <a:t>) from info;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DATE_FORMAT()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DATE_FORMAT(</a:t>
            </a:r>
            <a:r>
              <a:rPr lang="en-US" dirty="0" err="1"/>
              <a:t>join_date</a:t>
            </a:r>
            <a:r>
              <a:rPr lang="en-US" dirty="0"/>
              <a:t>, '%Y-%m-%d')FROM users;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107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104CD-B8DC-A491-5F60-25D085FEE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96" y="436228"/>
            <a:ext cx="10741404" cy="574073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Now()</a:t>
            </a:r>
          </a:p>
          <a:p>
            <a:pPr marL="0" indent="0">
              <a:buNone/>
            </a:pPr>
            <a:r>
              <a:rPr lang="en-IN" dirty="0"/>
              <a:t>select now();(current date and time)</a:t>
            </a:r>
          </a:p>
          <a:p>
            <a:pPr marL="0" indent="0">
              <a:buNone/>
            </a:pPr>
            <a:r>
              <a:rPr lang="en-IN" dirty="0"/>
              <a:t>select date(now());(only current date)</a:t>
            </a:r>
          </a:p>
          <a:p>
            <a:pPr marL="0" indent="0">
              <a:buNone/>
            </a:pPr>
            <a:r>
              <a:rPr lang="en-IN" dirty="0"/>
              <a:t>select time(now());(only current time)</a:t>
            </a:r>
          </a:p>
          <a:p>
            <a:pPr marL="0" indent="0">
              <a:buNone/>
            </a:pPr>
            <a:r>
              <a:rPr lang="en-IN" b="1" dirty="0"/>
              <a:t>To find date difference</a:t>
            </a:r>
          </a:p>
          <a:p>
            <a:pPr marL="0" indent="0">
              <a:buNone/>
            </a:pPr>
            <a:r>
              <a:rPr lang="en-US" dirty="0"/>
              <a:t>SELECT DATEDIFF(CURDATE(), '2023-04-01') AS days;</a:t>
            </a:r>
          </a:p>
          <a:p>
            <a:pPr marL="0" indent="0">
              <a:buNone/>
            </a:pPr>
            <a:r>
              <a:rPr lang="en-US" b="1" dirty="0"/>
              <a:t>The Query  returns </a:t>
            </a:r>
            <a:r>
              <a:rPr lang="en-IN" b="1" dirty="0"/>
              <a:t>date of tomorrow.</a:t>
            </a:r>
          </a:p>
          <a:p>
            <a:pPr marL="0" indent="0">
              <a:buNone/>
            </a:pPr>
            <a:r>
              <a:rPr lang="en-US" dirty="0"/>
              <a:t>SELECT DATE_ADD(CURDATE(), INTERVAL 1 DAY) AS </a:t>
            </a:r>
            <a:r>
              <a:rPr lang="en-US" dirty="0" err="1"/>
              <a:t>after_one_day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170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F874-D4B4-6BC1-1BB5-22253FE9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C158-C8F4-A537-5D1D-F9B580E02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478172"/>
            <a:ext cx="10674292" cy="569879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SQL String Functions</a:t>
            </a:r>
          </a:p>
          <a:p>
            <a:pPr marL="0" indent="0">
              <a:buNone/>
            </a:pPr>
            <a:r>
              <a:rPr lang="en-IN" b="1" dirty="0" err="1"/>
              <a:t>i</a:t>
            </a:r>
            <a:r>
              <a:rPr lang="en-IN" b="1" dirty="0"/>
              <a:t>)LENGTH() </a:t>
            </a:r>
          </a:p>
          <a:p>
            <a:pPr marL="0" indent="0">
              <a:buNone/>
            </a:pPr>
            <a:r>
              <a:rPr lang="en-US" dirty="0"/>
              <a:t>SELECT LENGTH('Hello') AS length;</a:t>
            </a:r>
          </a:p>
          <a:p>
            <a:pPr marL="0" indent="0">
              <a:buNone/>
            </a:pPr>
            <a:r>
              <a:rPr lang="en-US" b="1" dirty="0"/>
              <a:t>ii) UPPER() / LOWER()</a:t>
            </a:r>
          </a:p>
          <a:p>
            <a:pPr marL="0" indent="0">
              <a:buNone/>
            </a:pPr>
            <a:r>
              <a:rPr lang="en-US" dirty="0"/>
              <a:t>Converts text to uppercase or lowercase.</a:t>
            </a:r>
          </a:p>
          <a:p>
            <a:pPr marL="0" indent="0">
              <a:buNone/>
            </a:pPr>
            <a:r>
              <a:rPr lang="en-US" dirty="0"/>
              <a:t>SELECT UPPER(</a:t>
            </a:r>
            <a:r>
              <a:rPr lang="en-US" dirty="0" err="1"/>
              <a:t>column_name</a:t>
            </a:r>
            <a:r>
              <a:rPr lang="en-US" dirty="0"/>
              <a:t>) 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Ex:</a:t>
            </a:r>
            <a:r>
              <a:rPr lang="en-US" dirty="0" err="1"/>
              <a:t>SELECT</a:t>
            </a:r>
            <a:r>
              <a:rPr lang="en-US" dirty="0"/>
              <a:t> upper(</a:t>
            </a:r>
            <a:r>
              <a:rPr lang="en-US" dirty="0" err="1"/>
              <a:t>first_name</a:t>
            </a:r>
            <a:r>
              <a:rPr lang="en-US" dirty="0"/>
              <a:t>) from info;</a:t>
            </a:r>
          </a:p>
          <a:p>
            <a:pPr marL="0" indent="0">
              <a:buNone/>
            </a:pPr>
            <a:r>
              <a:rPr lang="en-US" dirty="0"/>
              <a:t>SELECT lower(</a:t>
            </a:r>
            <a:r>
              <a:rPr lang="en-US" dirty="0" err="1"/>
              <a:t>first_name</a:t>
            </a:r>
            <a:r>
              <a:rPr lang="en-US" dirty="0"/>
              <a:t>) from info;</a:t>
            </a:r>
          </a:p>
          <a:p>
            <a:pPr marL="0" indent="0">
              <a:buNone/>
            </a:pPr>
            <a:r>
              <a:rPr lang="en-US" b="1" dirty="0"/>
              <a:t>iii)</a:t>
            </a:r>
            <a:r>
              <a:rPr lang="en-IN" b="1" dirty="0"/>
              <a:t> CONCAT()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SELECT CONCAT(col1, col2);</a:t>
            </a:r>
          </a:p>
          <a:p>
            <a:pPr marL="0" indent="0">
              <a:buNone/>
            </a:pPr>
            <a:r>
              <a:rPr lang="en-US" b="1" dirty="0" err="1"/>
              <a:t>Ex:</a:t>
            </a:r>
            <a:r>
              <a:rPr lang="en-US" dirty="0" err="1"/>
              <a:t>SELECT</a:t>
            </a:r>
            <a:r>
              <a:rPr lang="en-US" dirty="0"/>
              <a:t> CONCAT(</a:t>
            </a:r>
            <a:r>
              <a:rPr lang="en-US" dirty="0" err="1"/>
              <a:t>First_name</a:t>
            </a:r>
            <a:r>
              <a:rPr lang="en-US" dirty="0"/>
              <a:t>," ", dept) from info;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121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DE03-F226-14B8-1860-1A9AACA9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25CEE-536C-E69E-6C8F-B146A4CE6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952" y="587229"/>
            <a:ext cx="10707848" cy="558973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iv)Length in characters:</a:t>
            </a:r>
          </a:p>
          <a:p>
            <a:pPr marL="0" indent="0">
              <a:buNone/>
            </a:pPr>
            <a:r>
              <a:rPr lang="en-IN" dirty="0"/>
              <a:t>SELECT CHAR_LENGTH(col) from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/>
              <a:t>Ex:</a:t>
            </a:r>
            <a:r>
              <a:rPr lang="en-US" dirty="0"/>
              <a:t>SELECT CHAR_LENGTH(dept) from info;</a:t>
            </a:r>
          </a:p>
          <a:p>
            <a:pPr marL="0" indent="0">
              <a:buNone/>
            </a:pPr>
            <a:r>
              <a:rPr lang="en-IN" b="1" dirty="0"/>
              <a:t>v)SEARCH FUNCTIONS</a:t>
            </a:r>
          </a:p>
          <a:p>
            <a:pPr marL="0" indent="0">
              <a:buNone/>
            </a:pPr>
            <a:r>
              <a:rPr lang="en-IN" dirty="0"/>
              <a:t>SELECT LOCATE('text', col);</a:t>
            </a:r>
            <a:endParaRPr lang="en-IN" b="1" dirty="0"/>
          </a:p>
          <a:p>
            <a:pPr marL="0" indent="0">
              <a:buNone/>
            </a:pPr>
            <a:r>
              <a:rPr lang="en-US" b="1" dirty="0" err="1"/>
              <a:t>Ex:</a:t>
            </a:r>
            <a:r>
              <a:rPr lang="en-US" dirty="0" err="1"/>
              <a:t>SELECT</a:t>
            </a:r>
            <a:r>
              <a:rPr lang="en-US" dirty="0"/>
              <a:t> LOCATE('k', </a:t>
            </a:r>
            <a:r>
              <a:rPr lang="en-US" dirty="0" err="1"/>
              <a:t>first_name</a:t>
            </a:r>
            <a:r>
              <a:rPr lang="en-US" dirty="0"/>
              <a:t>) from info;</a:t>
            </a:r>
          </a:p>
        </p:txBody>
      </p:sp>
    </p:spTree>
    <p:extLst>
      <p:ext uri="{BB962C8B-B14F-4D97-AF65-F5344CB8AC3E}">
        <p14:creationId xmlns:p14="http://schemas.microsoft.com/office/powerpoint/2010/main" val="3716967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F5BBD-4659-F72E-4E49-63C4EDD1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30D2C-5500-EC54-81EE-983925DF7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vi)CHAR() Function (convert ASCII → character)</a:t>
            </a:r>
          </a:p>
          <a:p>
            <a:pPr marL="0" indent="0">
              <a:buNone/>
            </a:pPr>
            <a:r>
              <a:rPr lang="en-US" dirty="0"/>
              <a:t>CHAR() returns characters from given ASCII or Unicode numbers.</a:t>
            </a:r>
          </a:p>
          <a:p>
            <a:pPr marL="0" indent="0">
              <a:buNone/>
            </a:pPr>
            <a:r>
              <a:rPr lang="en-US" dirty="0"/>
              <a:t>SELECT CHAR(65);  </a:t>
            </a:r>
          </a:p>
          <a:p>
            <a:pPr marL="0" indent="0">
              <a:buNone/>
            </a:pPr>
            <a:r>
              <a:rPr lang="en-US" dirty="0"/>
              <a:t>SELECT CHAR(72, 101, 108, 108, 111);</a:t>
            </a:r>
          </a:p>
          <a:p>
            <a:pPr marL="0" indent="0">
              <a:buNone/>
            </a:pPr>
            <a:r>
              <a:rPr lang="en-IN" dirty="0"/>
              <a:t>country CHAR(2)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(code length is fixed size 2)</a:t>
            </a:r>
          </a:p>
          <a:p>
            <a:pPr marL="0" indent="0">
              <a:buNone/>
            </a:pPr>
            <a:r>
              <a:rPr lang="en-IN" b="1" dirty="0"/>
              <a:t>vii)LEFT() — Syntax</a:t>
            </a:r>
          </a:p>
          <a:p>
            <a:pPr marL="0" indent="0">
              <a:buNone/>
            </a:pPr>
            <a:r>
              <a:rPr lang="en-US" dirty="0"/>
              <a:t>LEFT(string, </a:t>
            </a:r>
            <a:r>
              <a:rPr lang="en-US" dirty="0" err="1"/>
              <a:t>number_of_characters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IN" b="1" dirty="0"/>
              <a:t>Extract first 3 characters</a:t>
            </a:r>
          </a:p>
          <a:p>
            <a:pPr marL="0" indent="0">
              <a:buNone/>
            </a:pPr>
            <a:r>
              <a:rPr lang="en-IN" dirty="0"/>
              <a:t>SELECT LEFT('Hello', 3);</a:t>
            </a:r>
          </a:p>
          <a:p>
            <a:pPr marL="0" indent="0">
              <a:buNone/>
            </a:pPr>
            <a:r>
              <a:rPr lang="en-US" b="1" dirty="0"/>
              <a:t>Extract first letter of a column</a:t>
            </a:r>
          </a:p>
          <a:p>
            <a:pPr marL="0" indent="0">
              <a:buNone/>
            </a:pPr>
            <a:r>
              <a:rPr lang="en-US" dirty="0"/>
              <a:t>SELECT LEFT(</a:t>
            </a:r>
            <a:r>
              <a:rPr lang="en-US" dirty="0" err="1"/>
              <a:t>first_name</a:t>
            </a:r>
            <a:r>
              <a:rPr lang="en-US" dirty="0"/>
              <a:t>, 1) AS </a:t>
            </a:r>
            <a:r>
              <a:rPr lang="en-US" dirty="0" err="1"/>
              <a:t>first_letter</a:t>
            </a:r>
            <a:r>
              <a:rPr lang="en-US" dirty="0"/>
              <a:t> FROM info;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279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DD6F-6787-1C2E-DF51-E54EA2AC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B7A8-19FE-EC1C-FE6A-F8C4D45F2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Are Constraints?</a:t>
            </a:r>
          </a:p>
          <a:p>
            <a:r>
              <a:rPr lang="en-US" b="1" dirty="0"/>
              <a:t>Constraints</a:t>
            </a:r>
            <a:r>
              <a:rPr lang="en-US" dirty="0"/>
              <a:t> are </a:t>
            </a:r>
            <a:r>
              <a:rPr lang="en-US" b="1" dirty="0"/>
              <a:t>rules</a:t>
            </a:r>
            <a:r>
              <a:rPr lang="en-US" dirty="0"/>
              <a:t> you apply to columns in a table to control the type of data that can be stored.</a:t>
            </a:r>
          </a:p>
          <a:p>
            <a:r>
              <a:rPr lang="en-US" dirty="0"/>
              <a:t>They help keep the data </a:t>
            </a:r>
            <a:r>
              <a:rPr lang="en-US" b="1" dirty="0"/>
              <a:t>correct</a:t>
            </a:r>
            <a:r>
              <a:rPr lang="en-US" dirty="0"/>
              <a:t>, </a:t>
            </a:r>
            <a:r>
              <a:rPr lang="en-US" b="1" dirty="0"/>
              <a:t>valid</a:t>
            </a:r>
            <a:r>
              <a:rPr lang="en-US" dirty="0"/>
              <a:t>, and </a:t>
            </a:r>
            <a:r>
              <a:rPr lang="en-US" b="1" dirty="0"/>
              <a:t>consistent</a:t>
            </a:r>
            <a:r>
              <a:rPr lang="en-US" dirty="0"/>
              <a:t>.</a:t>
            </a:r>
          </a:p>
          <a:p>
            <a:r>
              <a:rPr lang="en-IN" dirty="0"/>
              <a:t>constraints as </a:t>
            </a:r>
            <a:r>
              <a:rPr lang="en-IN" b="1" dirty="0"/>
              <a:t>data-quality guards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4417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8BA1-E4AB-136B-2584-13651D6A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43389-B1C3-CED9-A47E-682A4D526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Common used </a:t>
            </a:r>
            <a:r>
              <a:rPr lang="en-US" b="1" dirty="0"/>
              <a:t>Constraints </a:t>
            </a:r>
            <a:r>
              <a:rPr lang="en-IN" b="1" dirty="0"/>
              <a:t>in </a:t>
            </a:r>
            <a:r>
              <a:rPr lang="en-IN" b="1" dirty="0" err="1"/>
              <a:t>sql</a:t>
            </a:r>
            <a:endParaRPr lang="en-IN" b="1" dirty="0"/>
          </a:p>
          <a:p>
            <a:r>
              <a:rPr lang="en-IN" dirty="0"/>
              <a:t>NOT NULL</a:t>
            </a:r>
          </a:p>
          <a:p>
            <a:r>
              <a:rPr lang="en-IN" dirty="0"/>
              <a:t>UNIQUE</a:t>
            </a:r>
          </a:p>
          <a:p>
            <a:r>
              <a:rPr lang="en-IN" dirty="0"/>
              <a:t>PRIMARY KEY</a:t>
            </a:r>
          </a:p>
          <a:p>
            <a:r>
              <a:rPr lang="en-IN" dirty="0"/>
              <a:t>FOREIGN KEY</a:t>
            </a:r>
          </a:p>
          <a:p>
            <a:r>
              <a:rPr lang="en-IN" dirty="0"/>
              <a:t>CHECK</a:t>
            </a:r>
          </a:p>
          <a:p>
            <a:r>
              <a:rPr lang="en-IN" dirty="0"/>
              <a:t>DEFAULT</a:t>
            </a:r>
          </a:p>
          <a:p>
            <a:r>
              <a:rPr lang="en-IN" dirty="0"/>
              <a:t>CREATE INDEX</a:t>
            </a:r>
          </a:p>
          <a:p>
            <a:r>
              <a:rPr lang="en-US" altLang="en-IN" dirty="0"/>
              <a:t>AUTO-INCREMENT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919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9521-A403-6C05-7572-E8EA8AB7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B292D-BA05-3CC4-E8FB-134B10E1A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2" y="679507"/>
            <a:ext cx="10930855" cy="549745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 dirty="0"/>
              <a:t>1. PRIMARY KEY</a:t>
            </a:r>
          </a:p>
          <a:p>
            <a:pPr>
              <a:lnSpc>
                <a:spcPct val="100000"/>
              </a:lnSpc>
            </a:pPr>
            <a:r>
              <a:rPr lang="en-US" sz="2500" b="1" dirty="0"/>
              <a:t>Purpose:</a:t>
            </a:r>
            <a:r>
              <a:rPr lang="en-US" sz="2500" dirty="0"/>
              <a:t> Uniquely identifies each row in a table. </a:t>
            </a:r>
          </a:p>
          <a:p>
            <a:pPr>
              <a:lnSpc>
                <a:spcPct val="100000"/>
              </a:lnSpc>
            </a:pPr>
            <a:r>
              <a:rPr lang="en-US" sz="2500" dirty="0"/>
              <a:t>Ensures no duplicate records.</a:t>
            </a:r>
          </a:p>
          <a:p>
            <a:pPr>
              <a:lnSpc>
                <a:spcPct val="100000"/>
              </a:lnSpc>
            </a:pPr>
            <a:r>
              <a:rPr lang="en-US" sz="2500" b="1" dirty="0"/>
              <a:t>Characteristics:</a:t>
            </a:r>
            <a:endParaRPr lang="en-US" sz="2500" dirty="0"/>
          </a:p>
          <a:p>
            <a:pPr lvl="1">
              <a:lnSpc>
                <a:spcPct val="100000"/>
              </a:lnSpc>
            </a:pPr>
            <a:r>
              <a:rPr lang="en-US" sz="2500" dirty="0"/>
              <a:t>Automatically </a:t>
            </a:r>
            <a:r>
              <a:rPr lang="en-US" sz="2500" b="1" dirty="0"/>
              <a:t>NOT NULL</a:t>
            </a:r>
            <a:r>
              <a:rPr lang="en-US" sz="2500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sz="2500" dirty="0"/>
              <a:t>Only </a:t>
            </a:r>
            <a:r>
              <a:rPr lang="en-US" sz="2500" b="1" dirty="0"/>
              <a:t>one PRIMARY KEY per table</a:t>
            </a:r>
            <a:r>
              <a:rPr lang="en-US" sz="2500" dirty="0"/>
              <a:t>, but it can consist of </a:t>
            </a:r>
            <a:r>
              <a:rPr lang="en-US" sz="2500" b="1" dirty="0"/>
              <a:t>multiple columns</a:t>
            </a:r>
            <a:r>
              <a:rPr lang="en-US" sz="2500" dirty="0"/>
              <a:t> (composite key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US" dirty="0"/>
              <a:t>CREATE TABLE users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user_id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username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832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7846C-53A7-5D84-2766-146B09546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5296-95BB-0C3A-A219-D9580E6B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97" y="453006"/>
            <a:ext cx="10813409" cy="572395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2. UNIQUE</a:t>
            </a:r>
          </a:p>
          <a:p>
            <a:pPr>
              <a:lnSpc>
                <a:spcPct val="100000"/>
              </a:lnSpc>
            </a:pPr>
            <a:r>
              <a:rPr lang="en-US" b="1" dirty="0"/>
              <a:t>Purpose:</a:t>
            </a:r>
            <a:r>
              <a:rPr lang="en-US" dirty="0"/>
              <a:t> Ensures all values in a column (or combination of columns) are </a:t>
            </a:r>
            <a:r>
              <a:rPr lang="en-US" b="1" dirty="0"/>
              <a:t>unique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Characteristics: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Can have multiple UNIQUE constraints in a table.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Can allow </a:t>
            </a:r>
            <a:r>
              <a:rPr lang="en-US" b="1" dirty="0"/>
              <a:t>NULL values</a:t>
            </a:r>
            <a:r>
              <a:rPr lang="en-US" dirty="0"/>
              <a:t> (but behavior depends on RDBMS).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CREATE TABLE </a:t>
            </a:r>
            <a:r>
              <a:rPr lang="fr-FR" dirty="0" err="1"/>
              <a:t>users</a:t>
            </a:r>
            <a:r>
              <a:rPr lang="fr-FR" dirty="0"/>
              <a:t> 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    email VARCHAR(100) UNIQUE,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    </a:t>
            </a:r>
            <a:r>
              <a:rPr lang="fr-FR" dirty="0" err="1"/>
              <a:t>username</a:t>
            </a:r>
            <a:r>
              <a:rPr lang="fr-FR" dirty="0"/>
              <a:t> VARCHAR(50) UNIQUE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Unlike PRIMARY KEY, a table can have </a:t>
            </a:r>
            <a:r>
              <a:rPr lang="en-US" b="1" dirty="0"/>
              <a:t>multiple UNIQUE columns</a:t>
            </a:r>
            <a:r>
              <a:rPr lang="en-US" dirty="0"/>
              <a:t>.</a:t>
            </a:r>
            <a:endParaRPr lang="fr-FR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776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1A9A-2CAA-B300-A601-EDED1ED5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42FFA-24F7-9AB2-7856-EACC60F7A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3. NOT NULL</a:t>
            </a:r>
          </a:p>
          <a:p>
            <a:pPr>
              <a:lnSpc>
                <a:spcPct val="100000"/>
              </a:lnSpc>
            </a:pPr>
            <a:r>
              <a:rPr lang="en-US" b="1" dirty="0"/>
              <a:t>Purpose:</a:t>
            </a:r>
            <a:r>
              <a:rPr lang="en-US" dirty="0"/>
              <a:t> Prevents a column from storing NULL values.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Usage:</a:t>
            </a:r>
            <a:r>
              <a:rPr lang="en-US" dirty="0"/>
              <a:t> Use when a value </a:t>
            </a:r>
            <a:r>
              <a:rPr lang="en-US" b="1" dirty="0"/>
              <a:t>must always exist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CREATE TABLE employees 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emp_name</a:t>
            </a:r>
            <a:r>
              <a:rPr lang="en-US" dirty="0"/>
              <a:t> VARCHAR(50) NOT NULL,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email VARCHAR(100) NOT NULL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6313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5CFC-7294-1D6F-6B3D-3C797330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85B74-0A3B-5A5A-43CB-677025735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 FOREIGN KEY</a:t>
            </a:r>
          </a:p>
          <a:p>
            <a:r>
              <a:rPr lang="en-US" b="1" dirty="0"/>
              <a:t>Purpose:</a:t>
            </a:r>
            <a:r>
              <a:rPr lang="en-US" dirty="0"/>
              <a:t> Maintains referential integrity between two tables.</a:t>
            </a:r>
          </a:p>
          <a:p>
            <a:r>
              <a:rPr lang="en-US" b="1" dirty="0"/>
              <a:t>Properties:</a:t>
            </a:r>
            <a:r>
              <a:rPr lang="en-US" dirty="0"/>
              <a:t> Values must exist in the referenced table column.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 TABLE orders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user_id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user_id</a:t>
            </a:r>
            <a:r>
              <a:rPr lang="en-US" dirty="0"/>
              <a:t>) REFERENCES users(id)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004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53058-F151-E548-8D65-BD37E01C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03C1-D77C-E058-57A4-2D02A4FFD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CHECK</a:t>
            </a:r>
          </a:p>
          <a:p>
            <a:r>
              <a:rPr lang="en-US" b="1" dirty="0"/>
              <a:t>Purpose:</a:t>
            </a:r>
            <a:r>
              <a:rPr lang="en-US" dirty="0"/>
              <a:t> Enforces a condition on column values.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 TABLE employees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emp_name</a:t>
            </a:r>
            <a:r>
              <a:rPr lang="en-US" dirty="0"/>
              <a:t> VARCHAR(50),</a:t>
            </a:r>
          </a:p>
          <a:p>
            <a:pPr marL="0" indent="0">
              <a:buNone/>
            </a:pPr>
            <a:r>
              <a:rPr lang="en-US" dirty="0"/>
              <a:t>    age INT,</a:t>
            </a:r>
          </a:p>
          <a:p>
            <a:pPr marL="0" indent="0">
              <a:buNone/>
            </a:pPr>
            <a:r>
              <a:rPr lang="en-US" dirty="0"/>
              <a:t>    CHECK (age &gt;= 18 AND age &lt;= 60)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Only allows ages between 18 and 60.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745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A4E2-210A-CA81-E74A-A62688BB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A7F0B-40BE-242B-0CCB-9B7ADAE8F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6. DEFAULT</a:t>
            </a:r>
          </a:p>
          <a:p>
            <a:r>
              <a:rPr lang="en-US" b="1" dirty="0"/>
              <a:t>Purpose:</a:t>
            </a:r>
            <a:r>
              <a:rPr lang="en-US" dirty="0"/>
              <a:t> Provides a </a:t>
            </a:r>
            <a:r>
              <a:rPr lang="en-US" b="1" dirty="0"/>
              <a:t>default value</a:t>
            </a:r>
            <a:r>
              <a:rPr lang="en-US" dirty="0"/>
              <a:t> when no value is supplied for a column.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 TABLE users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user_id</a:t>
            </a:r>
            <a:r>
              <a:rPr lang="en-US" dirty="0"/>
              <a:t> INT PRIMARY KEY AUTO_INCREMENT,</a:t>
            </a:r>
          </a:p>
          <a:p>
            <a:pPr marL="0" indent="0">
              <a:buNone/>
            </a:pPr>
            <a:r>
              <a:rPr lang="en-US" dirty="0"/>
              <a:t>    username VARCHAR(50),</a:t>
            </a:r>
          </a:p>
          <a:p>
            <a:pPr marL="0" indent="0">
              <a:buNone/>
            </a:pPr>
            <a:r>
              <a:rPr lang="en-US" dirty="0"/>
              <a:t>    status VARCHAR(10) DEFAULT 'active’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If no value is given for status, it will default to 'active'.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334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BCEA4-FEFC-7F90-D422-0DBB287F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E2B5-D0F7-93D8-7AD9-4A7B39509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7. AUTO_INCREMENT (MySQL specific)</a:t>
            </a:r>
          </a:p>
          <a:p>
            <a:r>
              <a:rPr lang="en-US" b="1" dirty="0"/>
              <a:t>Purpose:</a:t>
            </a:r>
            <a:r>
              <a:rPr lang="en-US" dirty="0"/>
              <a:t> Automatically generates sequential numeric values.</a:t>
            </a:r>
          </a:p>
          <a:p>
            <a:r>
              <a:rPr lang="en-US" b="1" dirty="0"/>
              <a:t>Usage:</a:t>
            </a:r>
            <a:r>
              <a:rPr lang="en-US" dirty="0"/>
              <a:t> Usually combined with </a:t>
            </a:r>
            <a:r>
              <a:rPr lang="en-US" b="1" dirty="0"/>
              <a:t>PRIMARY KEY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 TABLE users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user_id</a:t>
            </a:r>
            <a:r>
              <a:rPr lang="en-US" dirty="0"/>
              <a:t> INT PRIMARY KEY AUTO_INCREMENT,</a:t>
            </a:r>
          </a:p>
          <a:p>
            <a:pPr marL="0" indent="0">
              <a:buNone/>
            </a:pPr>
            <a:r>
              <a:rPr lang="en-US" dirty="0"/>
              <a:t>    username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First record: </a:t>
            </a:r>
            <a:r>
              <a:rPr lang="en-US" dirty="0" err="1"/>
              <a:t>user_id</a:t>
            </a:r>
            <a:r>
              <a:rPr lang="en-US" dirty="0"/>
              <a:t> = 1, second: 2, etc.</a:t>
            </a:r>
          </a:p>
          <a:p>
            <a:pPr marL="0" indent="0">
              <a:buNone/>
            </a:pPr>
            <a:r>
              <a:rPr lang="en-US" dirty="0"/>
              <a:t>Ensures </a:t>
            </a:r>
            <a:r>
              <a:rPr lang="en-US" b="1" dirty="0"/>
              <a:t>unique IDs without manual input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7446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0EA5-6EFE-5B53-ECEC-F574E922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EF358-FDA0-0735-BBF2-1E65D7A11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8. CREATE INDEX</a:t>
            </a:r>
          </a:p>
          <a:p>
            <a:r>
              <a:rPr lang="en-US" dirty="0"/>
              <a:t>Think of a book: if you want to find a topic, you </a:t>
            </a:r>
            <a:r>
              <a:rPr lang="en-US" b="1" dirty="0"/>
              <a:t>look in the index</a:t>
            </a:r>
            <a:r>
              <a:rPr lang="en-US" dirty="0"/>
              <a:t> instead of reading every page.</a:t>
            </a:r>
          </a:p>
          <a:p>
            <a:r>
              <a:rPr lang="en-US" dirty="0"/>
              <a:t>In MySQL, an </a:t>
            </a:r>
            <a:r>
              <a:rPr lang="en-US" b="1" dirty="0"/>
              <a:t>index works the same way</a:t>
            </a:r>
            <a:r>
              <a:rPr lang="en-US" dirty="0"/>
              <a:t>: it helps the database find rows </a:t>
            </a:r>
            <a:r>
              <a:rPr lang="en-US" b="1" dirty="0"/>
              <a:t>much faster</a:t>
            </a:r>
            <a:r>
              <a:rPr lang="en-US" dirty="0"/>
              <a:t>.</a:t>
            </a:r>
          </a:p>
          <a:p>
            <a:r>
              <a:rPr lang="en-US" b="1" dirty="0"/>
              <a:t>Without an index:</a:t>
            </a:r>
          </a:p>
          <a:p>
            <a:r>
              <a:rPr lang="en-US" dirty="0"/>
              <a:t>SELECT * FROM users WHERE username='Alice’;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MySQL has to </a:t>
            </a:r>
            <a:r>
              <a:rPr lang="en-US" b="1" dirty="0"/>
              <a:t>check every row</a:t>
            </a:r>
            <a:r>
              <a:rPr lang="en-US" dirty="0"/>
              <a:t> in the table.</a:t>
            </a:r>
          </a:p>
          <a:p>
            <a:r>
              <a:rPr lang="en-US" dirty="0"/>
              <a:t>Slow if the table is big (millions of rows).</a:t>
            </a:r>
          </a:p>
        </p:txBody>
      </p:sp>
    </p:spTree>
    <p:extLst>
      <p:ext uri="{BB962C8B-B14F-4D97-AF65-F5344CB8AC3E}">
        <p14:creationId xmlns:p14="http://schemas.microsoft.com/office/powerpoint/2010/main" val="31920861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89DF-AB52-DF39-6605-78544BF8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6E70-81DD-54E2-EB37-FD3879583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With an index:</a:t>
            </a:r>
          </a:p>
          <a:p>
            <a:r>
              <a:rPr lang="en-US" dirty="0"/>
              <a:t>CREATE INDEX </a:t>
            </a:r>
            <a:r>
              <a:rPr lang="en-US" dirty="0" err="1"/>
              <a:t>idx_username</a:t>
            </a:r>
            <a:r>
              <a:rPr lang="en-US" dirty="0"/>
              <a:t> ON users(username);</a:t>
            </a:r>
          </a:p>
          <a:p>
            <a:r>
              <a:rPr lang="en-US" dirty="0"/>
              <a:t>SELECT * FROM users WHERE username='Alice';</a:t>
            </a:r>
          </a:p>
          <a:p>
            <a:r>
              <a:rPr lang="en-US" dirty="0"/>
              <a:t>MySQL uses the index to </a:t>
            </a:r>
            <a:r>
              <a:rPr lang="en-US" b="1" dirty="0"/>
              <a:t>jump directly</a:t>
            </a:r>
            <a:r>
              <a:rPr lang="en-US" dirty="0"/>
              <a:t> to the rows where username='Alice’. Much faster.</a:t>
            </a:r>
          </a:p>
          <a:p>
            <a:pPr marL="0" indent="0">
              <a:buNone/>
            </a:pPr>
            <a:r>
              <a:rPr lang="en-US" b="1" dirty="0"/>
              <a:t>Dropping an index</a:t>
            </a:r>
          </a:p>
          <a:p>
            <a:r>
              <a:rPr lang="en-US" dirty="0"/>
              <a:t>DROP INDEX </a:t>
            </a:r>
            <a:r>
              <a:rPr lang="en-US" dirty="0" err="1"/>
              <a:t>idx_email</a:t>
            </a:r>
            <a:r>
              <a:rPr lang="en-US" dirty="0"/>
              <a:t> ON users;</a:t>
            </a:r>
          </a:p>
          <a:p>
            <a:r>
              <a:rPr lang="en-US" dirty="0"/>
              <a:t>Removes the index if you don’t need it.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907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231F-A9EF-1FE2-78BC-758DAEC03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Example: Students Table with Full Constraints</a:t>
            </a:r>
          </a:p>
          <a:p>
            <a:pPr marL="0" indent="0">
              <a:buNone/>
            </a:pPr>
            <a:r>
              <a:rPr lang="en-US" dirty="0"/>
              <a:t>CREATE TABLE students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 AUTO_INCREMENT,       -- PRIMARY KEY + AUTO_INCREMENT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first_name</a:t>
            </a:r>
            <a:r>
              <a:rPr lang="en-US" dirty="0"/>
              <a:t> VARCHAR(50) NOT NULL,                 -- NOT NULL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last_name</a:t>
            </a:r>
            <a:r>
              <a:rPr lang="en-US" dirty="0"/>
              <a:t> VARCHAR(50) NOT NULL,                  -- NOT NULL</a:t>
            </a:r>
          </a:p>
          <a:p>
            <a:pPr marL="0" indent="0">
              <a:buNone/>
            </a:pPr>
            <a:r>
              <a:rPr lang="en-US" dirty="0"/>
              <a:t>    email VARCHAR(100) UNIQUE NOT NULL,             -- UNIQUE + NOT NULL</a:t>
            </a:r>
          </a:p>
          <a:p>
            <a:pPr marL="0" indent="0">
              <a:buNone/>
            </a:pPr>
            <a:r>
              <a:rPr lang="en-US" dirty="0"/>
              <a:t>    age INT CHECK (age &gt;= 18 AND age &lt;= 60),        -- CHECK constraint</a:t>
            </a:r>
          </a:p>
          <a:p>
            <a:pPr marL="0" indent="0">
              <a:buNone/>
            </a:pPr>
            <a:r>
              <a:rPr lang="en-US" dirty="0"/>
              <a:t>    status VARCHAR(10) DEFAULT 'active',            -- DEFAULT value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class_id</a:t>
            </a:r>
            <a:r>
              <a:rPr lang="en-US" dirty="0"/>
              <a:t> INT,                                   -- will be used for FOREIGN KEY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created_at</a:t>
            </a:r>
            <a:r>
              <a:rPr lang="en-US" dirty="0"/>
              <a:t> TIMESTAMP DEFAULT CURRENT_TIMESTAMP, -- DEFAULT timestamp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class_id</a:t>
            </a:r>
            <a:r>
              <a:rPr lang="en-US" dirty="0"/>
              <a:t>) REFERENCES classes(</a:t>
            </a:r>
            <a:r>
              <a:rPr lang="en-US" dirty="0" err="1"/>
              <a:t>class_id</a:t>
            </a:r>
            <a:r>
              <a:rPr lang="en-US" dirty="0"/>
              <a:t>) ON DELETE SET NULL -- FOREIGN KEY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7989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9F27B-66F8-A17E-769E-DDD8ED83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C60BC-155F-D3E6-FABF-8A843B861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Join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 SQL, a </a:t>
            </a:r>
            <a:r>
              <a:rPr lang="en-US" b="1" dirty="0"/>
              <a:t>JOIN</a:t>
            </a:r>
            <a:r>
              <a:rPr lang="en-US" dirty="0"/>
              <a:t> is a fundamental operation used to combine rows from two or more tables based on a related column (or a logical relationship) between them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5068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72E95-63E0-83FA-CA43-69B6FCE3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51" y="385894"/>
            <a:ext cx="10855355" cy="579106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What is JOIN?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</a:t>
            </a:r>
            <a:r>
              <a:rPr lang="en-US" b="1" dirty="0"/>
              <a:t>JOIN is used to get data from more than one table at the same time.</a:t>
            </a:r>
            <a:br>
              <a:rPr lang="en-US" dirty="0"/>
            </a:br>
            <a:r>
              <a:rPr lang="en-US" dirty="0"/>
              <a:t>Tables are connected using a </a:t>
            </a:r>
            <a:r>
              <a:rPr lang="en-US" b="1" dirty="0"/>
              <a:t>common column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Why JOIN is needed?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Because data is stored in </a:t>
            </a:r>
            <a:r>
              <a:rPr lang="en-US" b="1" dirty="0"/>
              <a:t>separate tables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Example: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Employee name is in </a:t>
            </a:r>
            <a:r>
              <a:rPr lang="en-US" b="1" dirty="0"/>
              <a:t>employees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Department name is in </a:t>
            </a:r>
            <a:r>
              <a:rPr lang="en-US" b="1" dirty="0"/>
              <a:t>departments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JOIN helps us </a:t>
            </a:r>
            <a:r>
              <a:rPr lang="en-US" b="1" dirty="0"/>
              <a:t>see both together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6905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536D-E810-ACE2-A455-000C757A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419450"/>
            <a:ext cx="10825294" cy="575751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if without using Foreign Key to access joins?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Yes</a:t>
            </a:r>
            <a:r>
              <a:rPr lang="en-IN" dirty="0"/>
              <a:t>,because </a:t>
            </a:r>
            <a:r>
              <a:rPr lang="en-US" b="1" dirty="0"/>
              <a:t>JOINs work based on matching column values</a:t>
            </a:r>
            <a:r>
              <a:rPr lang="en-US" dirty="0"/>
              <a:t>, not on whether a foreign key constraint exists.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Important Difference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661009-AA19-9BE1-9C3D-A573487CD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516536"/>
              </p:ext>
            </p:extLst>
          </p:nvPr>
        </p:nvGraphicFramePr>
        <p:xfrm>
          <a:off x="1333150" y="3756336"/>
          <a:ext cx="5973661" cy="2194560"/>
        </p:xfrm>
        <a:graphic>
          <a:graphicData uri="http://schemas.openxmlformats.org/drawingml/2006/table">
            <a:tbl>
              <a:tblPr/>
              <a:tblGrid>
                <a:gridCol w="3012347">
                  <a:extLst>
                    <a:ext uri="{9D8B030D-6E8A-4147-A177-3AD203B41FA5}">
                      <a16:colId xmlns:a16="http://schemas.microsoft.com/office/drawing/2014/main" val="706266736"/>
                    </a:ext>
                  </a:extLst>
                </a:gridCol>
                <a:gridCol w="2961314">
                  <a:extLst>
                    <a:ext uri="{9D8B030D-6E8A-4147-A177-3AD203B41FA5}">
                      <a16:colId xmlns:a16="http://schemas.microsoft.com/office/drawing/2014/main" val="150272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With Foreign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Without Foreign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801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Enforces data integrity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No data integrity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677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Prevents invalid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Invalid data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898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Database checks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Developer must handle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935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028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F20C4-30B5-B3E6-8863-DE796F8B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510" y="662730"/>
            <a:ext cx="10523290" cy="551423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7626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53C68-CDB0-B11D-D2A6-1914E5A9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6EED4-D854-7137-BE77-3255031C3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sz="3600" b="1" dirty="0"/>
              <a:t>Joins in </a:t>
            </a:r>
            <a:r>
              <a:rPr lang="en-IN" sz="3600" b="1" dirty="0" err="1"/>
              <a:t>sql</a:t>
            </a:r>
            <a:endParaRPr lang="en-IN" sz="3600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3574BF-FEA4-2B46-DA9D-2EAFD401D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616252"/>
              </p:ext>
            </p:extLst>
          </p:nvPr>
        </p:nvGraphicFramePr>
        <p:xfrm>
          <a:off x="1433817" y="1296453"/>
          <a:ext cx="8322579" cy="4053840"/>
        </p:xfrm>
        <a:graphic>
          <a:graphicData uri="http://schemas.openxmlformats.org/drawingml/2006/table">
            <a:tbl>
              <a:tblPr/>
              <a:tblGrid>
                <a:gridCol w="3381559">
                  <a:extLst>
                    <a:ext uri="{9D8B030D-6E8A-4147-A177-3AD203B41FA5}">
                      <a16:colId xmlns:a16="http://schemas.microsoft.com/office/drawing/2014/main" val="4182933394"/>
                    </a:ext>
                  </a:extLst>
                </a:gridCol>
                <a:gridCol w="4941020">
                  <a:extLst>
                    <a:ext uri="{9D8B030D-6E8A-4147-A177-3AD203B41FA5}">
                      <a16:colId xmlns:a16="http://schemas.microsoft.com/office/drawing/2014/main" val="1614365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JOIN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998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INNER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Matches in both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91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LEFT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All left + matching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18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RIGHT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All right + matching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4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FULL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All records from both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203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CROSS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Combination of all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948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SELF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Table joined to itself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56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293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9B20-4FE3-020E-BC14-450C69A7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D827-39D6-2BE5-114C-DAC054813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Before join we create 2 tables like,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Department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CREATE TABLE departments (    </a:t>
            </a:r>
            <a:r>
              <a:rPr lang="en-US" dirty="0" err="1"/>
              <a:t>dept_id</a:t>
            </a:r>
            <a:r>
              <a:rPr lang="en-US" dirty="0"/>
              <a:t> INT PRIMARY KEY,    </a:t>
            </a:r>
            <a:r>
              <a:rPr lang="en-US" dirty="0" err="1"/>
              <a:t>dept_name</a:t>
            </a:r>
            <a:r>
              <a:rPr lang="en-US" dirty="0"/>
              <a:t> VARCHAR(50));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Employee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CREATE TABLE employees (    </a:t>
            </a:r>
            <a:r>
              <a:rPr lang="en-US" dirty="0" err="1"/>
              <a:t>emp_id</a:t>
            </a:r>
            <a:r>
              <a:rPr lang="en-US" dirty="0"/>
              <a:t> INT PRIMARY KEY,    name VARCHAR(50),    </a:t>
            </a:r>
            <a:r>
              <a:rPr lang="en-US" dirty="0" err="1"/>
              <a:t>dept_id</a:t>
            </a:r>
            <a:r>
              <a:rPr lang="en-US" dirty="0"/>
              <a:t> INT  FOREIGN KEY (</a:t>
            </a:r>
            <a:r>
              <a:rPr lang="en-US" dirty="0" err="1"/>
              <a:t>dept_id</a:t>
            </a:r>
            <a:r>
              <a:rPr lang="en-US" dirty="0"/>
              <a:t> 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REFERENCES departments (</a:t>
            </a:r>
            <a:r>
              <a:rPr lang="en-US" dirty="0" err="1"/>
              <a:t>dept_id</a:t>
            </a:r>
            <a:r>
              <a:rPr lang="en-US" dirty="0"/>
              <a:t> ));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0734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6566-1BE0-9150-D6FC-3D2EFD30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6E9A2-B787-0722-4C11-B6193972D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Insert values </a:t>
            </a:r>
            <a:r>
              <a:rPr lang="en-IN" b="1" dirty="0" err="1"/>
              <a:t>fo</a:t>
            </a:r>
            <a:r>
              <a:rPr lang="en-IN" b="1" dirty="0"/>
              <a:t> the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INSERT INTO employees (</a:t>
            </a:r>
            <a:r>
              <a:rPr lang="en-IN" dirty="0" err="1"/>
              <a:t>emp_id</a:t>
            </a:r>
            <a:r>
              <a:rPr lang="en-IN" dirty="0"/>
              <a:t>, name, </a:t>
            </a:r>
            <a:r>
              <a:rPr lang="en-IN" dirty="0" err="1"/>
              <a:t>dept_id</a:t>
            </a:r>
            <a:r>
              <a:rPr lang="en-IN" dirty="0"/>
              <a:t>)VALUES(1, 'Kokila', 10),(2, 'Jana', 20),(3, 'Mano', 30),(4, 'Sasi', 40),(5, 'Mega', 50);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INSERT INTO departments (</a:t>
            </a:r>
            <a:r>
              <a:rPr lang="en-US" dirty="0" err="1"/>
              <a:t>dept_id</a:t>
            </a:r>
            <a:r>
              <a:rPr lang="en-US" dirty="0"/>
              <a:t>, </a:t>
            </a:r>
            <a:r>
              <a:rPr lang="en-US" dirty="0" err="1"/>
              <a:t>dept_name</a:t>
            </a:r>
            <a:r>
              <a:rPr lang="en-US" dirty="0"/>
              <a:t>)VALUES(10, 'HR'),(20, 'IT'),(30,"Training"),(40,"Accounts");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0803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4FDD-FEC6-6A8B-0FE1-8F79BC5F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D555D-084D-8EE6-19D4-E61E14532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1.INNER JOIN</a:t>
            </a:r>
          </a:p>
          <a:p>
            <a:pPr marL="0" indent="0">
              <a:buNone/>
            </a:pPr>
            <a:r>
              <a:rPr lang="en-US" b="1" dirty="0"/>
              <a:t>Returns only matching records from both tables.</a:t>
            </a:r>
          </a:p>
          <a:p>
            <a:pPr marL="0" indent="0">
              <a:buNone/>
            </a:pPr>
            <a:r>
              <a:rPr lang="en-US" dirty="0"/>
              <a:t>SELECT employees.name, </a:t>
            </a:r>
            <a:r>
              <a:rPr lang="en-US" dirty="0" err="1"/>
              <a:t>departments.dept_name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INNER JOIN </a:t>
            </a:r>
            <a:r>
              <a:rPr lang="en-US" dirty="0" err="1"/>
              <a:t>departmentsON</a:t>
            </a:r>
            <a:r>
              <a:rPr lang="en-US" dirty="0"/>
              <a:t> </a:t>
            </a:r>
            <a:r>
              <a:rPr lang="en-US" dirty="0" err="1"/>
              <a:t>employees.dept_id</a:t>
            </a:r>
            <a:r>
              <a:rPr lang="en-US" dirty="0"/>
              <a:t> = </a:t>
            </a:r>
            <a:r>
              <a:rPr lang="en-US" dirty="0" err="1"/>
              <a:t>departments.dept_id</a:t>
            </a:r>
            <a:r>
              <a:rPr lang="en-US" dirty="0"/>
              <a:t>;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marL="0" indent="0">
              <a:buNone/>
            </a:pPr>
            <a:r>
              <a:rPr lang="en-IN" dirty="0"/>
              <a:t>           name     dept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6E6602-D213-C0CF-B008-5AA5AF371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737493"/>
              </p:ext>
            </p:extLst>
          </p:nvPr>
        </p:nvGraphicFramePr>
        <p:xfrm>
          <a:off x="1643543" y="4494567"/>
          <a:ext cx="2567730" cy="1463040"/>
        </p:xfrm>
        <a:graphic>
          <a:graphicData uri="http://schemas.openxmlformats.org/drawingml/2006/table">
            <a:tbl>
              <a:tblPr/>
              <a:tblGrid>
                <a:gridCol w="1259048">
                  <a:extLst>
                    <a:ext uri="{9D8B030D-6E8A-4147-A177-3AD203B41FA5}">
                      <a16:colId xmlns:a16="http://schemas.microsoft.com/office/drawing/2014/main" val="1181792858"/>
                    </a:ext>
                  </a:extLst>
                </a:gridCol>
                <a:gridCol w="1308682">
                  <a:extLst>
                    <a:ext uri="{9D8B030D-6E8A-4147-A177-3AD203B41FA5}">
                      <a16:colId xmlns:a16="http://schemas.microsoft.com/office/drawing/2014/main" val="414757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Kokila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67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858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709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025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6590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A6FD-762E-D949-51B8-8076A96C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95B1-9F69-6519-0C7B-1E76FA4D8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2. LEFT JOIN</a:t>
            </a:r>
          </a:p>
          <a:p>
            <a:pPr marL="0" indent="0">
              <a:buNone/>
            </a:pPr>
            <a:r>
              <a:rPr lang="en-US" b="1" dirty="0"/>
              <a:t>Returns all records from the left table, and matching records from the right table.</a:t>
            </a:r>
          </a:p>
          <a:p>
            <a:pPr marL="0" indent="0">
              <a:buNone/>
            </a:pPr>
            <a:r>
              <a:rPr lang="en-US" dirty="0"/>
              <a:t>SELECT employees.name, </a:t>
            </a:r>
            <a:r>
              <a:rPr lang="en-US" dirty="0" err="1"/>
              <a:t>departments.dept_name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LEFT JOIN departments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employees.dept_id</a:t>
            </a:r>
            <a:r>
              <a:rPr lang="en-US" dirty="0"/>
              <a:t> = </a:t>
            </a:r>
            <a:r>
              <a:rPr lang="en-US" dirty="0" err="1"/>
              <a:t>departments.dept_id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IN" b="1" dirty="0"/>
              <a:t>Output:                                 </a:t>
            </a:r>
            <a:r>
              <a:rPr lang="en-US" b="1" dirty="0"/>
              <a:t>If no match, right table values will be NULL</a:t>
            </a: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B7CC1-3A9C-441F-CE95-64DD290A3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700105"/>
              </p:ext>
            </p:extLst>
          </p:nvPr>
        </p:nvGraphicFramePr>
        <p:xfrm>
          <a:off x="1181450" y="4328721"/>
          <a:ext cx="2711042" cy="2214185"/>
        </p:xfrm>
        <a:graphic>
          <a:graphicData uri="http://schemas.openxmlformats.org/drawingml/2006/table">
            <a:tbl>
              <a:tblPr/>
              <a:tblGrid>
                <a:gridCol w="1192634">
                  <a:extLst>
                    <a:ext uri="{9D8B030D-6E8A-4147-A177-3AD203B41FA5}">
                      <a16:colId xmlns:a16="http://schemas.microsoft.com/office/drawing/2014/main" val="3315893851"/>
                    </a:ext>
                  </a:extLst>
                </a:gridCol>
                <a:gridCol w="1518408">
                  <a:extLst>
                    <a:ext uri="{9D8B030D-6E8A-4147-A177-3AD203B41FA5}">
                      <a16:colId xmlns:a16="http://schemas.microsoft.com/office/drawing/2014/main" val="3293787017"/>
                    </a:ext>
                  </a:extLst>
                </a:gridCol>
              </a:tblGrid>
              <a:tr h="44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Kokila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390495"/>
                  </a:ext>
                </a:extLst>
              </a:tr>
              <a:tr h="44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048259"/>
                  </a:ext>
                </a:extLst>
              </a:tr>
              <a:tr h="44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086353"/>
                  </a:ext>
                </a:extLst>
              </a:tr>
              <a:tr h="44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144371"/>
                  </a:ext>
                </a:extLst>
              </a:tr>
              <a:tr h="44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Mega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209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0901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6A12F-BEB0-99B7-CCAA-2DAF6893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81B06-5832-9348-5991-217010EC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3.</a:t>
            </a:r>
            <a:r>
              <a:rPr lang="en-US" b="1" dirty="0"/>
              <a:t> RIGHT JOIN</a:t>
            </a:r>
          </a:p>
          <a:p>
            <a:pPr marL="0" indent="0">
              <a:buNone/>
            </a:pPr>
            <a:r>
              <a:rPr lang="en-US" b="1" dirty="0"/>
              <a:t>Returns all records from the right table, and matching records from the left table.</a:t>
            </a:r>
          </a:p>
          <a:p>
            <a:pPr marL="0" indent="0">
              <a:buNone/>
            </a:pPr>
            <a:r>
              <a:rPr lang="en-US" dirty="0"/>
              <a:t>SELECT employees.name, </a:t>
            </a:r>
            <a:r>
              <a:rPr lang="en-US" dirty="0" err="1"/>
              <a:t>departments.dept_name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RIGHT JOIN departments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employees.dept_id</a:t>
            </a:r>
            <a:r>
              <a:rPr lang="en-US" dirty="0"/>
              <a:t> = </a:t>
            </a:r>
            <a:r>
              <a:rPr lang="en-US" dirty="0" err="1"/>
              <a:t>departments.dept_id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Output: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1AEC23-3D98-7046-1014-5FC1E9054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82409"/>
              </p:ext>
            </p:extLst>
          </p:nvPr>
        </p:nvGraphicFramePr>
        <p:xfrm>
          <a:off x="1056314" y="4477789"/>
          <a:ext cx="2358006" cy="1463040"/>
        </p:xfrm>
        <a:graphic>
          <a:graphicData uri="http://schemas.openxmlformats.org/drawingml/2006/table">
            <a:tbl>
              <a:tblPr/>
              <a:tblGrid>
                <a:gridCol w="1091268">
                  <a:extLst>
                    <a:ext uri="{9D8B030D-6E8A-4147-A177-3AD203B41FA5}">
                      <a16:colId xmlns:a16="http://schemas.microsoft.com/office/drawing/2014/main" val="2408837726"/>
                    </a:ext>
                  </a:extLst>
                </a:gridCol>
                <a:gridCol w="1266738">
                  <a:extLst>
                    <a:ext uri="{9D8B030D-6E8A-4147-A177-3AD203B41FA5}">
                      <a16:colId xmlns:a16="http://schemas.microsoft.com/office/drawing/2014/main" val="35664418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Kokila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960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45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1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222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8401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B1F2-2DCB-F57B-66B6-317A193A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7371E-942D-C42D-5539-8C49FAA64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4.</a:t>
            </a:r>
            <a:r>
              <a:rPr lang="en-US" b="1" dirty="0"/>
              <a:t>FULL JOIN</a:t>
            </a:r>
          </a:p>
          <a:p>
            <a:pPr marL="0" indent="0">
              <a:buNone/>
            </a:pPr>
            <a:r>
              <a:rPr lang="en-US" dirty="0"/>
              <a:t>Returns </a:t>
            </a:r>
            <a:r>
              <a:rPr lang="en-US" b="1" dirty="0"/>
              <a:t>all records from both tables</a:t>
            </a:r>
            <a:r>
              <a:rPr lang="en-US" dirty="0"/>
              <a:t>, matched or not.</a:t>
            </a:r>
          </a:p>
          <a:p>
            <a:r>
              <a:rPr lang="en-US" b="1" dirty="0"/>
              <a:t>Databases that do NOT support FULL JOIN</a:t>
            </a:r>
          </a:p>
          <a:p>
            <a:r>
              <a:rPr lang="en-US" b="1" dirty="0"/>
              <a:t>MySQL</a:t>
            </a:r>
            <a:endParaRPr lang="en-US" dirty="0"/>
          </a:p>
          <a:p>
            <a:r>
              <a:rPr lang="en-US" b="1" dirty="0"/>
              <a:t>MariaDB</a:t>
            </a:r>
            <a:endParaRPr lang="en-US" dirty="0"/>
          </a:p>
          <a:p>
            <a:r>
              <a:rPr lang="en-US" b="1" dirty="0"/>
              <a:t>SQLite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Using SQL Server / PostgreSQL / Oracle</a:t>
            </a:r>
          </a:p>
          <a:p>
            <a:pPr marL="0" indent="0">
              <a:buNone/>
            </a:pPr>
            <a:r>
              <a:rPr lang="en-US" dirty="0"/>
              <a:t>SELECT employees.name, </a:t>
            </a:r>
            <a:r>
              <a:rPr lang="en-US" dirty="0" err="1"/>
              <a:t>departments.dept_nameFROM</a:t>
            </a:r>
            <a:r>
              <a:rPr lang="en-US" dirty="0"/>
              <a:t> </a:t>
            </a:r>
            <a:r>
              <a:rPr lang="en-US" dirty="0" err="1"/>
              <a:t>employeesFULL</a:t>
            </a:r>
            <a:r>
              <a:rPr lang="en-US" dirty="0"/>
              <a:t> JOIN </a:t>
            </a:r>
            <a:r>
              <a:rPr lang="en-US" dirty="0" err="1"/>
              <a:t>departmentsON</a:t>
            </a:r>
            <a:r>
              <a:rPr lang="en-US" dirty="0"/>
              <a:t> </a:t>
            </a:r>
            <a:r>
              <a:rPr lang="en-US" dirty="0" err="1"/>
              <a:t>employees.dept_id</a:t>
            </a:r>
            <a:r>
              <a:rPr lang="en-US" dirty="0"/>
              <a:t> = </a:t>
            </a:r>
            <a:r>
              <a:rPr lang="en-US" dirty="0" err="1"/>
              <a:t>departments.dept_id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4487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05C64-26DC-E05A-BE12-E1032BED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EFC16-781F-C71F-E53B-E31FE27E8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FULL JOIN IN </a:t>
            </a:r>
            <a:r>
              <a:rPr lang="en-IN" b="1" dirty="0" err="1"/>
              <a:t>mysql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Using union</a:t>
            </a:r>
          </a:p>
          <a:p>
            <a:pPr marL="0" indent="0">
              <a:buNone/>
            </a:pPr>
            <a:r>
              <a:rPr lang="en-IN" dirty="0"/>
              <a:t>SELECT e.name, </a:t>
            </a:r>
            <a:r>
              <a:rPr lang="en-IN" dirty="0" err="1"/>
              <a:t>d.dept_name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employees e</a:t>
            </a:r>
          </a:p>
          <a:p>
            <a:pPr marL="0" indent="0">
              <a:buNone/>
            </a:pPr>
            <a:r>
              <a:rPr lang="en-IN" dirty="0"/>
              <a:t>LEFT JOIN departments d</a:t>
            </a:r>
          </a:p>
          <a:p>
            <a:pPr marL="0" indent="0">
              <a:buNone/>
            </a:pPr>
            <a:r>
              <a:rPr lang="en-IN" dirty="0"/>
              <a:t>ON </a:t>
            </a:r>
            <a:r>
              <a:rPr lang="en-IN" dirty="0" err="1"/>
              <a:t>e.dept_id</a:t>
            </a:r>
            <a:r>
              <a:rPr lang="en-IN" dirty="0"/>
              <a:t> = </a:t>
            </a:r>
            <a:r>
              <a:rPr lang="en-IN" dirty="0" err="1"/>
              <a:t>d.dept_id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UNION</a:t>
            </a:r>
          </a:p>
          <a:p>
            <a:pPr marL="0" indent="0">
              <a:buNone/>
            </a:pPr>
            <a:r>
              <a:rPr lang="en-IN" dirty="0"/>
              <a:t>SELECT e.name, </a:t>
            </a:r>
            <a:r>
              <a:rPr lang="en-IN" dirty="0" err="1"/>
              <a:t>d.dept_name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employees e</a:t>
            </a:r>
          </a:p>
          <a:p>
            <a:pPr marL="0" indent="0">
              <a:buNone/>
            </a:pPr>
            <a:r>
              <a:rPr lang="en-IN" dirty="0"/>
              <a:t>RIGHT JOIN departments d</a:t>
            </a:r>
          </a:p>
          <a:p>
            <a:pPr marL="0" indent="0">
              <a:buNone/>
            </a:pPr>
            <a:r>
              <a:rPr lang="en-IN" dirty="0"/>
              <a:t>ON </a:t>
            </a:r>
            <a:r>
              <a:rPr lang="en-IN" dirty="0" err="1"/>
              <a:t>e.dept_id</a:t>
            </a:r>
            <a:r>
              <a:rPr lang="en-IN" dirty="0"/>
              <a:t> = </a:t>
            </a:r>
            <a:r>
              <a:rPr lang="en-IN" dirty="0" err="1"/>
              <a:t>d.dept_id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9259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8B15-651E-061C-1B66-367533C9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6841-067B-BC8A-ADE7-C418ADFFE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5.SELF JOIN</a:t>
            </a:r>
          </a:p>
          <a:p>
            <a:pPr marL="0" indent="0">
              <a:buNone/>
            </a:pPr>
            <a:r>
              <a:rPr lang="en-US" dirty="0"/>
              <a:t>A table joins with </a:t>
            </a:r>
            <a:r>
              <a:rPr lang="en-US" b="1" dirty="0"/>
              <a:t>itself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6.CROSS JOIN</a:t>
            </a:r>
          </a:p>
          <a:p>
            <a:pPr marL="0" indent="0">
              <a:buNone/>
            </a:pPr>
            <a:r>
              <a:rPr lang="en-US" b="1" dirty="0"/>
              <a:t>CROSS JOIN = every row from one table × every row from another table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creates </a:t>
            </a:r>
            <a:r>
              <a:rPr lang="en-US" b="1" dirty="0"/>
              <a:t>all possible combinations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SELECT e.name, </a:t>
            </a:r>
            <a:r>
              <a:rPr lang="en-US" dirty="0" err="1"/>
              <a:t>d.dept_name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</a:t>
            </a:r>
          </a:p>
          <a:p>
            <a:pPr marL="0" indent="0">
              <a:buNone/>
            </a:pPr>
            <a:r>
              <a:rPr lang="en-US" dirty="0"/>
              <a:t>CROSS JOIN departments 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8445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C759-09D2-2FCC-A4EB-2E91CB41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FC3B-A47C-E9B8-C639-018F9166D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Union</a:t>
            </a:r>
          </a:p>
          <a:p>
            <a:pPr marL="0" indent="0">
              <a:buNone/>
            </a:pPr>
            <a:r>
              <a:rPr lang="en-US" dirty="0"/>
              <a:t>UNION is used to </a:t>
            </a:r>
            <a:r>
              <a:rPr lang="en-US" b="1" dirty="0"/>
              <a:t>combine the results of two or more SELECT queries</a:t>
            </a:r>
            <a:r>
              <a:rPr lang="en-US" dirty="0"/>
              <a:t> into a single result set.</a:t>
            </a:r>
          </a:p>
          <a:p>
            <a:pPr marL="0" indent="0">
              <a:buNone/>
            </a:pPr>
            <a:r>
              <a:rPr lang="en-US" dirty="0"/>
              <a:t>It </a:t>
            </a:r>
            <a:r>
              <a:rPr lang="en-US" b="1" dirty="0"/>
              <a:t>removes duplicate rows</a:t>
            </a:r>
            <a:r>
              <a:rPr lang="en-US" dirty="0"/>
              <a:t> by default.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IN" dirty="0"/>
              <a:t> to create 2 tables</a:t>
            </a:r>
          </a:p>
          <a:p>
            <a:pPr marL="0" indent="0">
              <a:buNone/>
            </a:pPr>
            <a:r>
              <a:rPr lang="en-IN" b="1" dirty="0"/>
              <a:t>First table</a:t>
            </a:r>
          </a:p>
          <a:p>
            <a:pPr marL="0" indent="0">
              <a:buNone/>
            </a:pPr>
            <a:r>
              <a:rPr lang="en-US" dirty="0"/>
              <a:t>create table employee2025(</a:t>
            </a:r>
            <a:r>
              <a:rPr lang="en-US" dirty="0" err="1"/>
              <a:t>emp_id</a:t>
            </a:r>
            <a:r>
              <a:rPr lang="en-US" dirty="0"/>
              <a:t> int, name varchar(25));</a:t>
            </a:r>
          </a:p>
          <a:p>
            <a:pPr marL="0" indent="0">
              <a:buNone/>
            </a:pPr>
            <a:r>
              <a:rPr lang="en-US" dirty="0"/>
              <a:t>insert into employee2025 values(1,"kokila"),(2,"Jana");</a:t>
            </a:r>
          </a:p>
          <a:p>
            <a:pPr marL="0" indent="0">
              <a:buNone/>
            </a:pPr>
            <a:r>
              <a:rPr lang="en-US" b="1" dirty="0"/>
              <a:t>Second table</a:t>
            </a:r>
          </a:p>
          <a:p>
            <a:pPr marL="0" indent="0">
              <a:buNone/>
            </a:pPr>
            <a:r>
              <a:rPr lang="en-US" dirty="0"/>
              <a:t>create table employee2026(</a:t>
            </a:r>
            <a:r>
              <a:rPr lang="en-US" dirty="0" err="1"/>
              <a:t>emp_id</a:t>
            </a:r>
            <a:r>
              <a:rPr lang="en-US" dirty="0"/>
              <a:t> int, name varchar(25));</a:t>
            </a:r>
          </a:p>
          <a:p>
            <a:pPr marL="0" indent="0">
              <a:buNone/>
            </a:pPr>
            <a:r>
              <a:rPr lang="en-US" dirty="0"/>
              <a:t>insert into employee2026 values(5,"Mano"),(2,"Jana");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8912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8C8FB-329B-B405-D69E-7D090C83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FE9E-62B0-BBA9-BA3F-05E2E0B41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Using union </a:t>
            </a:r>
            <a:r>
              <a:rPr lang="en-IN" b="1" dirty="0" err="1"/>
              <a:t>keyword,there</a:t>
            </a:r>
            <a:r>
              <a:rPr lang="en-IN" b="1" dirty="0"/>
              <a:t> no duplicate allowed.</a:t>
            </a:r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emp_id</a:t>
            </a:r>
            <a:r>
              <a:rPr lang="en-US" dirty="0"/>
              <a:t>, name</a:t>
            </a:r>
          </a:p>
          <a:p>
            <a:pPr marL="0" indent="0">
              <a:buNone/>
            </a:pPr>
            <a:r>
              <a:rPr lang="en-US" dirty="0"/>
              <a:t>FROM employee2025</a:t>
            </a:r>
          </a:p>
          <a:p>
            <a:pPr marL="0" indent="0">
              <a:buNone/>
            </a:pPr>
            <a:r>
              <a:rPr lang="en-US" dirty="0"/>
              <a:t>UNION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emp_id</a:t>
            </a:r>
            <a:r>
              <a:rPr lang="en-US" dirty="0"/>
              <a:t> , name</a:t>
            </a:r>
          </a:p>
          <a:p>
            <a:pPr marL="0" indent="0">
              <a:buNone/>
            </a:pPr>
            <a:r>
              <a:rPr lang="en-US" dirty="0"/>
              <a:t>FROM employee2026;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7207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D40F-3CB7-B3AF-8749-B92CB35F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B831F-0510-8C83-099B-F750C844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UNION ALL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Includes </a:t>
            </a:r>
            <a:r>
              <a:rPr lang="en-US" b="1" dirty="0"/>
              <a:t>duplicate rows</a:t>
            </a:r>
            <a:r>
              <a:rPr lang="en-US" dirty="0"/>
              <a:t>.</a:t>
            </a: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Example: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</a:t>
            </a:r>
            <a:r>
              <a:rPr lang="en-US" dirty="0" err="1"/>
              <a:t>emp_id</a:t>
            </a:r>
            <a:r>
              <a:rPr lang="en-US" dirty="0"/>
              <a:t>, 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FROM employee2025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UNION all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</a:t>
            </a:r>
            <a:r>
              <a:rPr lang="en-US" dirty="0" err="1"/>
              <a:t>emp_id</a:t>
            </a:r>
            <a:r>
              <a:rPr lang="en-US" dirty="0"/>
              <a:t> , 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FROM employee2026;</a:t>
            </a:r>
          </a:p>
        </p:txBody>
      </p:sp>
    </p:spTree>
    <p:extLst>
      <p:ext uri="{BB962C8B-B14F-4D97-AF65-F5344CB8AC3E}">
        <p14:creationId xmlns:p14="http://schemas.microsoft.com/office/powerpoint/2010/main" val="40323006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5223-4B62-AC7A-EED3-2450FB5E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8B8F9-95DB-8D1B-75C7-6D9E2687C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Difference between UNION and Join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C66AE0-1155-CC2E-8C5E-44D761A05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906796"/>
              </p:ext>
            </p:extLst>
          </p:nvPr>
        </p:nvGraphicFramePr>
        <p:xfrm>
          <a:off x="1484852" y="1250733"/>
          <a:ext cx="6400800" cy="2072640"/>
        </p:xfrm>
        <a:graphic>
          <a:graphicData uri="http://schemas.openxmlformats.org/drawingml/2006/table">
            <a:tbl>
              <a:tblPr/>
              <a:tblGrid>
                <a:gridCol w="3052662">
                  <a:extLst>
                    <a:ext uri="{9D8B030D-6E8A-4147-A177-3AD203B41FA5}">
                      <a16:colId xmlns:a16="http://schemas.microsoft.com/office/drawing/2014/main" val="2845447604"/>
                    </a:ext>
                  </a:extLst>
                </a:gridCol>
                <a:gridCol w="3348138">
                  <a:extLst>
                    <a:ext uri="{9D8B030D-6E8A-4147-A177-3AD203B41FA5}">
                      <a16:colId xmlns:a16="http://schemas.microsoft.com/office/drawing/2014/main" val="699878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UNION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84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Combines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Combines 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95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Vertical merge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Horizontal merge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416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Same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Related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411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3907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7D00-026D-285D-6CCB-5FF102D05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11EF6-C025-CDB7-2295-EDC6DA660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Difference between UNION and Union ALL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DDF742-4193-1418-886D-78FD25D26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742397"/>
              </p:ext>
            </p:extLst>
          </p:nvPr>
        </p:nvGraphicFramePr>
        <p:xfrm>
          <a:off x="1385581" y="1421679"/>
          <a:ext cx="9278923" cy="4389120"/>
        </p:xfrm>
        <a:graphic>
          <a:graphicData uri="http://schemas.openxmlformats.org/drawingml/2006/table">
            <a:tbl>
              <a:tblPr/>
              <a:tblGrid>
                <a:gridCol w="2165059">
                  <a:extLst>
                    <a:ext uri="{9D8B030D-6E8A-4147-A177-3AD203B41FA5}">
                      <a16:colId xmlns:a16="http://schemas.microsoft.com/office/drawing/2014/main" val="475370941"/>
                    </a:ext>
                  </a:extLst>
                </a:gridCol>
                <a:gridCol w="4060271">
                  <a:extLst>
                    <a:ext uri="{9D8B030D-6E8A-4147-A177-3AD203B41FA5}">
                      <a16:colId xmlns:a16="http://schemas.microsoft.com/office/drawing/2014/main" val="4006000594"/>
                    </a:ext>
                  </a:extLst>
                </a:gridCol>
                <a:gridCol w="3053593">
                  <a:extLst>
                    <a:ext uri="{9D8B030D-6E8A-4147-A177-3AD203B41FA5}">
                      <a16:colId xmlns:a16="http://schemas.microsoft.com/office/drawing/2014/main" val="44763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UNION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UNION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476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Duplicate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Removes duplicates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Keeps duplicates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63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922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Sorting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Implicitly sorts to remove duplicates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No sorting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87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Result 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Unique rows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All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892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chemeClr val="bg1"/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When duplicates should be removed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</a:rPr>
                        <a:t>When duplicates are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32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1089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E9AEB-1B51-D485-4990-67E0EEC7F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64" y="570451"/>
            <a:ext cx="10821797" cy="56316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The SQL CREATE VIEW Statement</a:t>
            </a:r>
          </a:p>
          <a:p>
            <a:pPr>
              <a:lnSpc>
                <a:spcPct val="150000"/>
              </a:lnSpc>
            </a:pPr>
            <a:r>
              <a:rPr lang="en-US" dirty="0"/>
              <a:t>To create a </a:t>
            </a:r>
            <a:r>
              <a:rPr lang="en-US" dirty="0" err="1"/>
              <a:t>viewin</a:t>
            </a:r>
            <a:r>
              <a:rPr lang="en-US" dirty="0"/>
              <a:t> a database, you can use the SQL CREATE </a:t>
            </a:r>
            <a:r>
              <a:rPr lang="en-US" dirty="0" err="1"/>
              <a:t>VIEWstatement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Syntax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Following is the syntax of the SQL CREATE </a:t>
            </a:r>
            <a:r>
              <a:rPr lang="en-US" dirty="0" err="1"/>
              <a:t>VIEWstatement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CREATE </a:t>
            </a:r>
            <a:r>
              <a:rPr lang="en-US" b="1" dirty="0" err="1"/>
              <a:t>VIEWview_name</a:t>
            </a:r>
            <a:r>
              <a:rPr lang="en-US" b="1" dirty="0"/>
              <a:t> ASSELECT column1, column2....FROM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 err="1"/>
              <a:t>table_nameWHERE</a:t>
            </a:r>
            <a:r>
              <a:rPr lang="en-IN" b="1" dirty="0"/>
              <a:t> [condition];</a:t>
            </a:r>
          </a:p>
        </p:txBody>
      </p:sp>
    </p:spTree>
    <p:extLst>
      <p:ext uri="{BB962C8B-B14F-4D97-AF65-F5344CB8AC3E}">
        <p14:creationId xmlns:p14="http://schemas.microsoft.com/office/powerpoint/2010/main" val="3266817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68F8-1046-63A0-6A76-452C893B0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E6D1B-8BEE-EA08-FD15-6A1EB35EA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Indexing in SQL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An </a:t>
            </a:r>
            <a:r>
              <a:rPr lang="en-US" b="1" dirty="0"/>
              <a:t>index</a:t>
            </a:r>
            <a:r>
              <a:rPr lang="en-US" dirty="0"/>
              <a:t> is a database object that </a:t>
            </a:r>
            <a:r>
              <a:rPr lang="en-US" b="1" dirty="0"/>
              <a:t>speeds up data retrieval</a:t>
            </a:r>
            <a:r>
              <a:rPr lang="en-US" dirty="0"/>
              <a:t> (SELECT queries) by creating a quick lookup structure.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Why Do We Use Indexes?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Faster SELECT queries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Improves WHERE, JOIN, ORDER BY, GROUP BY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Syntax to Create Index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CREATE INDEX </a:t>
            </a:r>
            <a:r>
              <a:rPr lang="en-US" dirty="0" err="1"/>
              <a:t>index_name</a:t>
            </a:r>
            <a:r>
              <a:rPr lang="en-US" dirty="0"/>
              <a:t> ON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540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F794-6A13-5B22-D090-AACDD438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9FB38-FAE3-88C1-AB32-092734F7A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Types of Indexes</a:t>
            </a:r>
          </a:p>
          <a:p>
            <a:pPr marL="0" indent="0">
              <a:buNone/>
            </a:pPr>
            <a:r>
              <a:rPr lang="en-US" b="1" dirty="0"/>
              <a:t>1. Single-column Index</a:t>
            </a:r>
          </a:p>
          <a:p>
            <a:pPr marL="0" indent="0">
              <a:buNone/>
            </a:pPr>
            <a:r>
              <a:rPr lang="en-IN" b="1" dirty="0"/>
              <a:t>2. Composite (Multi-column) Index</a:t>
            </a:r>
          </a:p>
          <a:p>
            <a:pPr marL="0" indent="0">
              <a:buNone/>
            </a:pPr>
            <a:r>
              <a:rPr lang="en-IN" b="1" dirty="0"/>
              <a:t>3. Unique Index</a:t>
            </a:r>
          </a:p>
          <a:p>
            <a:pPr marL="0" indent="0">
              <a:buNone/>
            </a:pPr>
            <a:r>
              <a:rPr lang="en-IN" b="1" dirty="0"/>
              <a:t>4. Implicit Index</a:t>
            </a:r>
          </a:p>
        </p:txBody>
      </p:sp>
    </p:spTree>
    <p:extLst>
      <p:ext uri="{BB962C8B-B14F-4D97-AF65-F5344CB8AC3E}">
        <p14:creationId xmlns:p14="http://schemas.microsoft.com/office/powerpoint/2010/main" val="3845680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5BEF-B22D-6A51-D303-54A3EFC7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D40B-5FEC-00E3-9662-11DA3E56F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Single-Column Index</a:t>
            </a:r>
          </a:p>
          <a:p>
            <a:r>
              <a:rPr lang="en-US" dirty="0"/>
              <a:t>Index on one column.</a:t>
            </a:r>
          </a:p>
          <a:p>
            <a:pPr marL="0" indent="0">
              <a:buNone/>
            </a:pPr>
            <a:r>
              <a:rPr lang="en-US" dirty="0"/>
              <a:t>CREATE INDEX </a:t>
            </a:r>
            <a:r>
              <a:rPr lang="en-US" dirty="0" err="1"/>
              <a:t>idx_name</a:t>
            </a:r>
            <a:r>
              <a:rPr lang="en-US" dirty="0"/>
              <a:t> ON employees(name);</a:t>
            </a:r>
          </a:p>
          <a:p>
            <a:pPr marL="0" indent="0">
              <a:buNone/>
            </a:pPr>
            <a:r>
              <a:rPr lang="en-US" b="1" dirty="0"/>
              <a:t>2. Composite (Multi-Column) Index</a:t>
            </a:r>
          </a:p>
          <a:p>
            <a:r>
              <a:rPr lang="en-US" dirty="0"/>
              <a:t>Index on multiple columns.</a:t>
            </a:r>
          </a:p>
          <a:p>
            <a:pPr marL="0" indent="0">
              <a:buNone/>
            </a:pPr>
            <a:r>
              <a:rPr lang="en-US" dirty="0"/>
              <a:t>CREATE INDEX </a:t>
            </a:r>
            <a:r>
              <a:rPr lang="en-US" dirty="0" err="1"/>
              <a:t>idx_name_age</a:t>
            </a:r>
            <a:r>
              <a:rPr lang="en-US" dirty="0"/>
              <a:t> ON employees(name, age);</a:t>
            </a:r>
          </a:p>
          <a:p>
            <a:pPr marL="0" indent="0">
              <a:buNone/>
            </a:pPr>
            <a:r>
              <a:rPr lang="en-IN" b="1" dirty="0"/>
              <a:t>3. Unique Index</a:t>
            </a:r>
          </a:p>
          <a:p>
            <a:r>
              <a:rPr lang="en-IN" dirty="0"/>
              <a:t>Prevents duplicate values.</a:t>
            </a:r>
          </a:p>
          <a:p>
            <a:r>
              <a:rPr lang="en-IN" dirty="0"/>
              <a:t>CREATE UNIQUE INDEX </a:t>
            </a:r>
            <a:r>
              <a:rPr lang="en-IN" dirty="0" err="1"/>
              <a:t>idx_email</a:t>
            </a:r>
            <a:r>
              <a:rPr lang="en-IN" dirty="0"/>
              <a:t> ON users(email);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6056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D25A5-9D2E-B0E7-E2DB-C51D9A7C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CF84B-5396-FBD4-C7FC-D21C4FB3F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4.</a:t>
            </a:r>
            <a:r>
              <a:rPr lang="en-US" b="1" dirty="0"/>
              <a:t> Clustered Index</a:t>
            </a:r>
          </a:p>
          <a:p>
            <a:r>
              <a:rPr lang="en-US" dirty="0"/>
              <a:t>Data stored in index order</a:t>
            </a:r>
          </a:p>
          <a:p>
            <a:r>
              <a:rPr lang="en-US" dirty="0"/>
              <a:t>Only one per table</a:t>
            </a:r>
            <a:br>
              <a:rPr lang="en-US" dirty="0"/>
            </a:br>
            <a:r>
              <a:rPr lang="en-US" dirty="0"/>
              <a:t>(e.g., Primary Key in MySQL </a:t>
            </a:r>
            <a:r>
              <a:rPr lang="en-US" dirty="0" err="1"/>
              <a:t>InnoDB</a:t>
            </a:r>
            <a:r>
              <a:rPr lang="en-US" dirty="0"/>
              <a:t>)</a:t>
            </a:r>
          </a:p>
          <a:p>
            <a:r>
              <a:rPr lang="en-US" b="1" dirty="0"/>
              <a:t>5. Non-Clustered Index</a:t>
            </a:r>
          </a:p>
          <a:p>
            <a:r>
              <a:rPr lang="en-US" dirty="0"/>
              <a:t>Index stored separately from data</a:t>
            </a:r>
          </a:p>
          <a:p>
            <a:r>
              <a:rPr lang="en-US" dirty="0"/>
              <a:t>Multiple allowed per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8191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BACC-4FCE-7E90-CA6E-19533F7E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20FDB-8778-3F2F-1AA5-1002926B3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Subquery  in </a:t>
            </a:r>
            <a:r>
              <a:rPr lang="en-IN" b="1" dirty="0" err="1"/>
              <a:t>sql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US" dirty="0"/>
              <a:t>A subquery in SQL is a query nested inside another SQL query (SELECT, INSERT, UPDATE, or DELETE) or within another subquery.</a:t>
            </a:r>
          </a:p>
          <a:p>
            <a:pPr>
              <a:lnSpc>
                <a:spcPct val="150000"/>
              </a:lnSpc>
            </a:pPr>
            <a:r>
              <a:rPr lang="en-US" dirty="0"/>
              <a:t> It is used to perform complex operations, such as filtering data based on results from another query, by breaking down a large task into smaller, manageable steps. 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702697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A741-3791-DA4A-C414-2C52A650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CB74-DCCE-0F86-655E-A4C4BE5C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Key Subquery Characteristics</a:t>
            </a:r>
          </a:p>
          <a:p>
            <a:r>
              <a:rPr lang="en-US" b="1" dirty="0"/>
              <a:t>Parentheses:</a:t>
            </a:r>
            <a:r>
              <a:rPr lang="en-US" dirty="0"/>
              <a:t> Subqueries must always be enclosed in parentheses.</a:t>
            </a:r>
          </a:p>
          <a:p>
            <a:r>
              <a:rPr lang="en-US" b="1" dirty="0"/>
              <a:t>Execution Order:</a:t>
            </a:r>
            <a:r>
              <a:rPr lang="en-US" dirty="0"/>
              <a:t> Generally, the inner subquery runs first, and its results are passed to the outer query.</a:t>
            </a:r>
          </a:p>
          <a:p>
            <a:r>
              <a:rPr lang="en-US" b="1" dirty="0"/>
              <a:t>Can Be Used in Different Clauses</a:t>
            </a:r>
          </a:p>
          <a:p>
            <a:pPr marL="457200" lvl="1" indent="0">
              <a:buNone/>
            </a:pPr>
            <a:r>
              <a:rPr lang="en-US" dirty="0"/>
              <a:t>Subqueries can appear in:</a:t>
            </a:r>
          </a:p>
          <a:p>
            <a:pPr marL="457200" lvl="1" indent="0">
              <a:buNone/>
            </a:pPr>
            <a:r>
              <a:rPr lang="en-US" dirty="0"/>
              <a:t>SELECT</a:t>
            </a:r>
          </a:p>
          <a:p>
            <a:pPr marL="457200" lvl="1" indent="0">
              <a:buNone/>
            </a:pPr>
            <a:r>
              <a:rPr lang="en-US" dirty="0"/>
              <a:t>FROM</a:t>
            </a:r>
          </a:p>
          <a:p>
            <a:pPr marL="457200" lvl="1" indent="0">
              <a:buNone/>
            </a:pPr>
            <a:r>
              <a:rPr lang="en-US" dirty="0"/>
              <a:t>WHERE</a:t>
            </a:r>
          </a:p>
          <a:p>
            <a:pPr marL="457200" lvl="1" indent="0">
              <a:buNone/>
            </a:pPr>
            <a:r>
              <a:rPr lang="en-US" dirty="0"/>
              <a:t>HAVING</a:t>
            </a:r>
          </a:p>
        </p:txBody>
      </p:sp>
    </p:spTree>
    <p:extLst>
      <p:ext uri="{BB962C8B-B14F-4D97-AF65-F5344CB8AC3E}">
        <p14:creationId xmlns:p14="http://schemas.microsoft.com/office/powerpoint/2010/main" val="40158274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D5BF-8F8D-2FD2-CCD7-01E03850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75136-478C-6AC1-2F22-B16830C8D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Common Subquery Operators</a:t>
            </a:r>
          </a:p>
          <a:p>
            <a:r>
              <a:rPr lang="en-US" b="1" dirty="0"/>
              <a:t>IN / NOT IN:</a:t>
            </a:r>
            <a:r>
              <a:rPr lang="en-US" dirty="0"/>
              <a:t> Checks if a value exists within the result set of the subquery.</a:t>
            </a:r>
          </a:p>
          <a:p>
            <a:r>
              <a:rPr lang="en-US" b="1" dirty="0"/>
              <a:t>EXISTS / NOT EXISTS:</a:t>
            </a:r>
            <a:r>
              <a:rPr lang="en-US" dirty="0"/>
              <a:t> Checks for the presence of records returned by the subquery.</a:t>
            </a:r>
          </a:p>
          <a:p>
            <a:r>
              <a:rPr lang="en-US" b="1" dirty="0"/>
              <a:t>ANY / ALL:</a:t>
            </a:r>
            <a:r>
              <a:rPr lang="en-US" dirty="0"/>
              <a:t> Compares a value against the results of a subquery.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9720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26232-5A2D-9CFF-969A-AA1D7FD6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E92E-4897-28D0-3EB3-9A39D5FCA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Basic Syntax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column_name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column_name</a:t>
            </a:r>
            <a:r>
              <a:rPr lang="en-US" dirty="0"/>
              <a:t> operator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column_name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WHERE condition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4637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BE00A-2B90-4A7E-FD64-18E87D4A8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952" y="453006"/>
            <a:ext cx="10707848" cy="572395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  <a:r>
              <a:rPr lang="en-US" dirty="0"/>
              <a:t> Value must be </a:t>
            </a:r>
            <a:r>
              <a:rPr lang="en-US" b="1" dirty="0"/>
              <a:t>present in the subquery result</a:t>
            </a:r>
          </a:p>
          <a:p>
            <a:pPr marL="0" indent="0">
              <a:buNone/>
            </a:pPr>
            <a:r>
              <a:rPr lang="en-US" b="1" dirty="0" err="1"/>
              <a:t>Example</a:t>
            </a:r>
            <a:r>
              <a:rPr lang="en-US" b="1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Employees</a:t>
            </a:r>
            <a:r>
              <a:rPr lang="en-US" dirty="0"/>
              <a:t> who work in department 30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SELECT </a:t>
            </a:r>
            <a:r>
              <a:rPr lang="en-US" b="1" dirty="0" err="1"/>
              <a:t>ename</a:t>
            </a:r>
            <a:r>
              <a:rPr lang="en-US" b="1" dirty="0"/>
              <a:t>, </a:t>
            </a:r>
            <a:r>
              <a:rPr lang="en-US" b="1" dirty="0" err="1"/>
              <a:t>deptno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FROM emp</a:t>
            </a:r>
          </a:p>
          <a:p>
            <a:pPr marL="0" indent="0">
              <a:buNone/>
            </a:pPr>
            <a:r>
              <a:rPr lang="en-US" b="1" dirty="0"/>
              <a:t>WHERE </a:t>
            </a:r>
            <a:r>
              <a:rPr lang="en-US" b="1" dirty="0" err="1"/>
              <a:t>deptno</a:t>
            </a:r>
            <a:r>
              <a:rPr lang="en-US" b="1" dirty="0"/>
              <a:t> IN (</a:t>
            </a:r>
          </a:p>
          <a:p>
            <a:pPr marL="0" indent="0">
              <a:buNone/>
            </a:pPr>
            <a:r>
              <a:rPr lang="en-US" b="1" dirty="0"/>
              <a:t>    SELECT </a:t>
            </a:r>
            <a:r>
              <a:rPr lang="en-US" b="1" dirty="0" err="1"/>
              <a:t>deptno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FROM dept</a:t>
            </a:r>
          </a:p>
          <a:p>
            <a:pPr marL="0" indent="0">
              <a:buNone/>
            </a:pPr>
            <a:r>
              <a:rPr lang="en-US" b="1" dirty="0"/>
              <a:t>    WHERE </a:t>
            </a:r>
            <a:r>
              <a:rPr lang="en-US" b="1" dirty="0" err="1"/>
              <a:t>deptno</a:t>
            </a:r>
            <a:r>
              <a:rPr lang="en-US" b="1" dirty="0"/>
              <a:t> = 30</a:t>
            </a:r>
          </a:p>
          <a:p>
            <a:pPr marL="0" indent="0">
              <a:buNone/>
            </a:pPr>
            <a:r>
              <a:rPr lang="en-US" b="1" dirty="0"/>
              <a:t>);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E44823-16DF-F781-535D-4EA1C27B8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501665"/>
              </p:ext>
            </p:extLst>
          </p:nvPr>
        </p:nvGraphicFramePr>
        <p:xfrm>
          <a:off x="5679347" y="1600510"/>
          <a:ext cx="442193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930">
                  <a:extLst>
                    <a:ext uri="{9D8B030D-6E8A-4147-A177-3AD203B41FA5}">
                      <a16:colId xmlns:a16="http://schemas.microsoft.com/office/drawing/2014/main" val="1760431363"/>
                    </a:ext>
                  </a:extLst>
                </a:gridCol>
              </a:tblGrid>
              <a:tr h="3273494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Employees whose job is SALESMAN</a:t>
                      </a:r>
                    </a:p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SELECT </a:t>
                      </a:r>
                      <a:r>
                        <a:rPr lang="en-US" sz="2800" dirty="0" err="1">
                          <a:solidFill>
                            <a:schemeClr val="tx1"/>
                          </a:solidFill>
                        </a:rPr>
                        <a:t>ename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, job</a:t>
                      </a:r>
                    </a:p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FROM emp</a:t>
                      </a:r>
                    </a:p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WHERE job IN (</a:t>
                      </a:r>
                    </a:p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   SELECT job</a:t>
                      </a:r>
                    </a:p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   FROM emp</a:t>
                      </a:r>
                    </a:p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   WHERE job = 'SALESMAN'</a:t>
                      </a:r>
                    </a:p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172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7231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6FA0-BF85-B471-21B2-690760A2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FBCE7-FAF1-B293-F1C5-07513502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Not In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US" dirty="0"/>
              <a:t>Value must </a:t>
            </a:r>
            <a:r>
              <a:rPr lang="en-US" b="1" dirty="0"/>
              <a:t>NOT</a:t>
            </a:r>
            <a:r>
              <a:rPr lang="en-US" dirty="0"/>
              <a:t> be present in subquery result</a:t>
            </a:r>
          </a:p>
          <a:p>
            <a:pPr marL="0" indent="0">
              <a:buNone/>
            </a:pPr>
            <a:r>
              <a:rPr lang="en-US" dirty="0"/>
              <a:t>Example: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Employees NOT working in dept 30</a:t>
            </a:r>
          </a:p>
          <a:p>
            <a:pPr marL="0" indent="0">
              <a:buNone/>
            </a:pPr>
            <a:r>
              <a:rPr lang="en-US" b="1" dirty="0"/>
              <a:t>SELECT </a:t>
            </a:r>
            <a:r>
              <a:rPr lang="en-US" b="1" dirty="0" err="1"/>
              <a:t>ename</a:t>
            </a:r>
            <a:r>
              <a:rPr lang="en-US" b="1" dirty="0"/>
              <a:t>, </a:t>
            </a:r>
            <a:r>
              <a:rPr lang="en-US" b="1" dirty="0" err="1"/>
              <a:t>deptno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FROM emp</a:t>
            </a:r>
          </a:p>
          <a:p>
            <a:pPr marL="0" indent="0">
              <a:buNone/>
            </a:pPr>
            <a:r>
              <a:rPr lang="en-US" b="1" dirty="0"/>
              <a:t>WHERE </a:t>
            </a:r>
            <a:r>
              <a:rPr lang="en-US" b="1" dirty="0" err="1"/>
              <a:t>deptno</a:t>
            </a:r>
            <a:r>
              <a:rPr lang="en-US" b="1" dirty="0"/>
              <a:t> NOT IN (</a:t>
            </a:r>
          </a:p>
          <a:p>
            <a:pPr marL="0" indent="0">
              <a:buNone/>
            </a:pPr>
            <a:r>
              <a:rPr lang="en-US" b="1" dirty="0"/>
              <a:t>    SELECT </a:t>
            </a:r>
            <a:r>
              <a:rPr lang="en-US" b="1" dirty="0" err="1"/>
              <a:t>deptno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FROM emp</a:t>
            </a:r>
          </a:p>
          <a:p>
            <a:pPr marL="0" indent="0">
              <a:buNone/>
            </a:pPr>
            <a:r>
              <a:rPr lang="en-US" b="1" dirty="0"/>
              <a:t>    WHERE </a:t>
            </a:r>
            <a:r>
              <a:rPr lang="en-US" b="1" dirty="0" err="1"/>
              <a:t>deptno</a:t>
            </a:r>
            <a:r>
              <a:rPr lang="en-US" b="1" dirty="0"/>
              <a:t> = 30</a:t>
            </a:r>
          </a:p>
          <a:p>
            <a:pPr marL="0" indent="0">
              <a:buNone/>
            </a:pPr>
            <a:r>
              <a:rPr lang="en-US" b="1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4940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3EFEE-322E-5917-ADF0-6282B07E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A3EFA-12D7-4095-C2A6-60D16BE05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Exist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IN" dirty="0" err="1">
                <a:sym typeface="Wingdings" panose="05000000000000000000" pitchFamily="2" charset="2"/>
              </a:rPr>
              <a:t>Example</a:t>
            </a:r>
            <a:r>
              <a:rPr lang="en-IN" dirty="0" err="1"/>
              <a:t>Departments</a:t>
            </a:r>
            <a:r>
              <a:rPr lang="en-IN" dirty="0"/>
              <a:t> that have employees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b="1" dirty="0"/>
              <a:t>SELECT </a:t>
            </a:r>
            <a:r>
              <a:rPr lang="en-IN" b="1" dirty="0" err="1"/>
              <a:t>d.deptno</a:t>
            </a:r>
            <a:r>
              <a:rPr lang="en-IN" b="1" dirty="0"/>
              <a:t>, </a:t>
            </a:r>
            <a:r>
              <a:rPr lang="en-IN" b="1" dirty="0" err="1"/>
              <a:t>d.dname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FROM dept d</a:t>
            </a:r>
          </a:p>
          <a:p>
            <a:pPr marL="0" indent="0">
              <a:buNone/>
            </a:pPr>
            <a:r>
              <a:rPr lang="en-IN" b="1" dirty="0"/>
              <a:t>WHERE EXISTS (</a:t>
            </a:r>
          </a:p>
          <a:p>
            <a:pPr marL="0" indent="0">
              <a:buNone/>
            </a:pPr>
            <a:r>
              <a:rPr lang="en-IN" b="1" dirty="0"/>
              <a:t>    SELECT 1</a:t>
            </a:r>
          </a:p>
          <a:p>
            <a:pPr marL="0" indent="0">
              <a:buNone/>
            </a:pPr>
            <a:r>
              <a:rPr lang="en-IN" b="1" dirty="0"/>
              <a:t>    FROM emp e</a:t>
            </a:r>
          </a:p>
          <a:p>
            <a:pPr marL="0" indent="0">
              <a:buNone/>
            </a:pPr>
            <a:r>
              <a:rPr lang="en-IN" b="1" dirty="0"/>
              <a:t>    WHERE </a:t>
            </a:r>
            <a:r>
              <a:rPr lang="en-IN" b="1" dirty="0" err="1"/>
              <a:t>e.deptno</a:t>
            </a:r>
            <a:r>
              <a:rPr lang="en-IN" b="1" dirty="0"/>
              <a:t> = </a:t>
            </a:r>
            <a:r>
              <a:rPr lang="en-IN" b="1" dirty="0" err="1"/>
              <a:t>d.deptno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3788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5BE82-FA5F-FB83-53C4-3F251065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92AC5-E629-EEE9-41F9-82F094674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NOT EXISTS (Row does NOT exist)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b="1" dirty="0"/>
              <a:t>Employees who do NOT have a manager</a:t>
            </a:r>
          </a:p>
          <a:p>
            <a:pPr marL="0" indent="0">
              <a:buNone/>
            </a:pPr>
            <a:r>
              <a:rPr lang="en-US" b="1" dirty="0"/>
              <a:t>SELECT </a:t>
            </a:r>
            <a:r>
              <a:rPr lang="en-US" b="1" dirty="0" err="1"/>
              <a:t>ename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FROM emp e</a:t>
            </a:r>
          </a:p>
          <a:p>
            <a:pPr marL="0" indent="0">
              <a:buNone/>
            </a:pPr>
            <a:r>
              <a:rPr lang="en-US" b="1" dirty="0"/>
              <a:t>WHERE NOT EXISTS (</a:t>
            </a:r>
          </a:p>
          <a:p>
            <a:pPr marL="0" indent="0">
              <a:buNone/>
            </a:pPr>
            <a:r>
              <a:rPr lang="en-US" b="1" dirty="0"/>
              <a:t>    SELECT 1</a:t>
            </a:r>
          </a:p>
          <a:p>
            <a:pPr marL="0" indent="0">
              <a:buNone/>
            </a:pPr>
            <a:r>
              <a:rPr lang="en-US" b="1" dirty="0"/>
              <a:t>    FROM emp m</a:t>
            </a:r>
          </a:p>
          <a:p>
            <a:pPr marL="0" indent="0">
              <a:buNone/>
            </a:pPr>
            <a:r>
              <a:rPr lang="en-US" b="1" dirty="0"/>
              <a:t>    WHERE </a:t>
            </a:r>
            <a:r>
              <a:rPr lang="en-US" b="1" dirty="0" err="1"/>
              <a:t>m.empno</a:t>
            </a:r>
            <a:r>
              <a:rPr lang="en-US" b="1" dirty="0"/>
              <a:t> = </a:t>
            </a:r>
            <a:r>
              <a:rPr lang="en-US" b="1" dirty="0" err="1"/>
              <a:t>e.mgr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7887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0879-D294-BB59-6304-6DD262D5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63B7-7EC6-2834-3BB4-B3742F9B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ANY (or SOME)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Meaning:</a:t>
            </a:r>
          </a:p>
          <a:p>
            <a:pPr>
              <a:lnSpc>
                <a:spcPct val="150000"/>
              </a:lnSpc>
            </a:pPr>
            <a:r>
              <a:rPr lang="en-US" dirty="0"/>
              <a:t>ANY compares a value with </a:t>
            </a:r>
            <a:r>
              <a:rPr lang="en-US" b="1" dirty="0"/>
              <a:t>any one value</a:t>
            </a:r>
            <a:r>
              <a:rPr lang="en-US" dirty="0"/>
              <a:t> returned by the subquery.</a:t>
            </a:r>
          </a:p>
          <a:p>
            <a:pPr>
              <a:lnSpc>
                <a:spcPct val="150000"/>
              </a:lnSpc>
            </a:pPr>
            <a:r>
              <a:rPr lang="en-US" dirty="0"/>
              <a:t>Condition is </a:t>
            </a:r>
            <a:r>
              <a:rPr lang="en-US" b="1" dirty="0"/>
              <a:t>TRUE if at least one value matches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0382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53C1-522E-1F37-7725-B85C67F8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1ABE-AAB4-E2DD-1127-AA662CDE1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r>
              <a:rPr lang="en-US" dirty="0"/>
              <a:t>Example 1: Employees earning </a:t>
            </a:r>
            <a:r>
              <a:rPr lang="en-US" b="1" dirty="0"/>
              <a:t>more than ANY employee in dept 30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sal</a:t>
            </a:r>
            <a:r>
              <a:rPr lang="en-US" dirty="0"/>
              <a:t> &gt; ANY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sal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emp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deptno</a:t>
            </a:r>
            <a:r>
              <a:rPr lang="en-US" dirty="0"/>
              <a:t> = 30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5031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A26B8-366F-E376-8C13-3FD2E30D4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339"/>
            <a:ext cx="10515600" cy="567362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ALL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b="1" dirty="0"/>
              <a:t>SELECT </a:t>
            </a:r>
            <a:r>
              <a:rPr lang="en-US" b="1" dirty="0" err="1"/>
              <a:t>ename</a:t>
            </a:r>
            <a:r>
              <a:rPr lang="en-US" b="1" dirty="0"/>
              <a:t>, </a:t>
            </a:r>
            <a:r>
              <a:rPr lang="en-US" b="1" dirty="0" err="1"/>
              <a:t>sal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FROM emp</a:t>
            </a:r>
          </a:p>
          <a:p>
            <a:pPr marL="0" indent="0">
              <a:buNone/>
            </a:pPr>
            <a:r>
              <a:rPr lang="en-US" b="1" dirty="0"/>
              <a:t>WHERE </a:t>
            </a:r>
            <a:r>
              <a:rPr lang="en-US" b="1" dirty="0" err="1"/>
              <a:t>sal</a:t>
            </a:r>
            <a:r>
              <a:rPr lang="en-US" b="1" dirty="0"/>
              <a:t> &gt; ALL (</a:t>
            </a:r>
          </a:p>
          <a:p>
            <a:pPr marL="0" indent="0">
              <a:buNone/>
            </a:pPr>
            <a:r>
              <a:rPr lang="en-US" b="1" dirty="0"/>
              <a:t>    SELECT </a:t>
            </a:r>
            <a:r>
              <a:rPr lang="en-US" b="1" dirty="0" err="1"/>
              <a:t>sal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FROM emp</a:t>
            </a:r>
          </a:p>
          <a:p>
            <a:pPr marL="0" indent="0">
              <a:buNone/>
            </a:pPr>
            <a:r>
              <a:rPr lang="en-US" b="1" dirty="0"/>
              <a:t>    WHERE </a:t>
            </a:r>
            <a:r>
              <a:rPr lang="en-US" b="1" dirty="0" err="1"/>
              <a:t>deptno</a:t>
            </a:r>
            <a:r>
              <a:rPr lang="en-US" b="1" dirty="0"/>
              <a:t> = 30</a:t>
            </a:r>
          </a:p>
          <a:p>
            <a:pPr marL="0" indent="0">
              <a:buNone/>
            </a:pPr>
            <a:r>
              <a:rPr lang="en-US" b="1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6060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35D7-24D1-D8DC-F3ED-58005CE6F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0DAFF-8F3B-BD11-5694-F37E655C0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1. Single-Row Subquery</a:t>
            </a:r>
          </a:p>
          <a:p>
            <a:pPr fontAlgn="base"/>
            <a:r>
              <a:rPr lang="en-US" dirty="0"/>
              <a:t> single-row subquery is a subquery that returns only one value.</a:t>
            </a:r>
          </a:p>
          <a:p>
            <a:pPr fontAlgn="base"/>
            <a:r>
              <a:rPr lang="en-US" dirty="0"/>
              <a:t>Returns exactly one row as the result.</a:t>
            </a:r>
          </a:p>
          <a:p>
            <a:pPr fontAlgn="base"/>
            <a:r>
              <a:rPr lang="en-US" dirty="0"/>
              <a:t>Commonly used with comparison operators such as =, &gt;, &lt;</a:t>
            </a:r>
          </a:p>
          <a:p>
            <a:r>
              <a:rPr lang="en-IN" dirty="0"/>
              <a:t>Example</a:t>
            </a:r>
          </a:p>
          <a:p>
            <a:pPr marL="0" indent="0">
              <a:buNone/>
            </a:pPr>
            <a:r>
              <a:rPr lang="en-US" b="1" dirty="0"/>
              <a:t>SELECT * FROM Emp WHERE Sal= (SELECT MAX(Sal) FROM Emp);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320760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56B4F-3815-2380-737E-6988B960D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9904-67B5-4927-60B7-6303F36AB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fontAlgn="base"/>
            <a:r>
              <a:rPr lang="en-US" b="1" dirty="0"/>
              <a:t>2. Multi-Row Subquery</a:t>
            </a:r>
          </a:p>
          <a:p>
            <a:pPr fontAlgn="base"/>
            <a:r>
              <a:rPr lang="en-US" dirty="0"/>
              <a:t>A multi-row subquery is a subquery that returns more than one value.</a:t>
            </a:r>
          </a:p>
          <a:p>
            <a:pPr fontAlgn="base"/>
            <a:r>
              <a:rPr lang="en-US" dirty="0"/>
              <a:t>Returns multiple rows as the result.</a:t>
            </a:r>
          </a:p>
          <a:p>
            <a:pPr fontAlgn="base"/>
            <a:r>
              <a:rPr lang="en-US" dirty="0"/>
              <a:t>Requires operators that can handle multiple values, such as IN, ANY or ALL</a:t>
            </a:r>
          </a:p>
          <a:p>
            <a:r>
              <a:rPr lang="en-IN" dirty="0"/>
              <a:t>Example</a:t>
            </a:r>
          </a:p>
          <a:p>
            <a:r>
              <a:rPr lang="en-US" b="1" dirty="0"/>
              <a:t>SELECT * FROM Emp WHERE </a:t>
            </a:r>
            <a:r>
              <a:rPr lang="en-US" b="1" dirty="0" err="1"/>
              <a:t>Deptno</a:t>
            </a:r>
            <a:r>
              <a:rPr lang="en-US" b="1" dirty="0"/>
              <a:t> IN (SELECT </a:t>
            </a:r>
            <a:r>
              <a:rPr lang="en-US" b="1" dirty="0" err="1"/>
              <a:t>deptno</a:t>
            </a:r>
            <a:r>
              <a:rPr lang="en-US" b="1" dirty="0"/>
              <a:t> FROM Dept WHERE job = 'manager’);</a:t>
            </a:r>
          </a:p>
          <a:p>
            <a:r>
              <a:rPr lang="en-US" b="1" dirty="0"/>
              <a:t>SELECT * FROM Emp WHERE </a:t>
            </a:r>
            <a:r>
              <a:rPr lang="en-US" b="1" dirty="0" err="1"/>
              <a:t>Deptno</a:t>
            </a:r>
            <a:r>
              <a:rPr lang="en-US" b="1" dirty="0"/>
              <a:t> &gt;any (SELECT </a:t>
            </a:r>
            <a:r>
              <a:rPr lang="en-US" b="1" dirty="0" err="1"/>
              <a:t>deptno</a:t>
            </a:r>
            <a:r>
              <a:rPr lang="en-US" b="1" dirty="0"/>
              <a:t> FROM Dept WHERE job = 'manager');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997637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E6B6-E2D1-18B5-1F76-46B7AADAD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E40F-EA0D-7E10-00F7-29AE7B5E2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3. Correlated Subquery</a:t>
            </a:r>
          </a:p>
          <a:p>
            <a:pPr fontAlgn="base"/>
            <a:r>
              <a:rPr lang="en-US" dirty="0"/>
              <a:t>A correlated subquery is a subquery that depends on the outer query for its values.</a:t>
            </a:r>
          </a:p>
          <a:p>
            <a:pPr fontAlgn="base"/>
            <a:r>
              <a:rPr lang="en-US" dirty="0"/>
              <a:t>A dependent subquery: it references columns from the outer query.</a:t>
            </a:r>
          </a:p>
          <a:p>
            <a:pPr fontAlgn="base"/>
            <a:r>
              <a:rPr lang="en-US" dirty="0"/>
              <a:t>Executed once for each row of the outer query, making it slower for large datasets.</a:t>
            </a:r>
          </a:p>
          <a:p>
            <a:r>
              <a:rPr lang="en-IN" dirty="0"/>
              <a:t>Example</a:t>
            </a:r>
          </a:p>
          <a:p>
            <a:pPr marL="0" indent="0">
              <a:buNone/>
            </a:pPr>
            <a:r>
              <a:rPr lang="en-IN" b="1" dirty="0"/>
              <a:t>SELECT </a:t>
            </a:r>
            <a:r>
              <a:rPr lang="en-IN" b="1" dirty="0" err="1"/>
              <a:t>e.eName</a:t>
            </a:r>
            <a:r>
              <a:rPr lang="en-IN" b="1" dirty="0"/>
              <a:t>, </a:t>
            </a:r>
            <a:r>
              <a:rPr lang="en-IN" b="1" dirty="0" err="1"/>
              <a:t>e.Sal</a:t>
            </a:r>
            <a:r>
              <a:rPr lang="en-IN" b="1" dirty="0"/>
              <a:t> FROM Emp e WHERE </a:t>
            </a:r>
            <a:r>
              <a:rPr lang="en-IN" b="1" dirty="0" err="1"/>
              <a:t>e.Sal</a:t>
            </a:r>
            <a:r>
              <a:rPr lang="en-IN" b="1" dirty="0"/>
              <a:t> &gt; (SELECT AVG(Sal)                   FROM Emp WHERE </a:t>
            </a:r>
            <a:r>
              <a:rPr lang="en-IN" b="1" dirty="0" err="1"/>
              <a:t>Deptno</a:t>
            </a:r>
            <a:r>
              <a:rPr lang="en-IN" b="1" dirty="0"/>
              <a:t> = </a:t>
            </a:r>
            <a:r>
              <a:rPr lang="en-IN" b="1" dirty="0" err="1"/>
              <a:t>e.Deptno</a:t>
            </a:r>
            <a:r>
              <a:rPr lang="en-IN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642700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73462-82BE-B798-20D4-21D77C5F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284"/>
            <a:ext cx="10515600" cy="56316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Some subqueries in emp table</a:t>
            </a:r>
          </a:p>
          <a:p>
            <a:pPr marL="514350" indent="-514350">
              <a:buAutoNum type="arabicPeriod"/>
            </a:pPr>
            <a:r>
              <a:rPr lang="en-US" dirty="0"/>
              <a:t>Employees earning more than average salary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sal</a:t>
            </a:r>
            <a:r>
              <a:rPr lang="en-US" dirty="0"/>
              <a:t> &gt; (SELECT AVG(</a:t>
            </a:r>
            <a:r>
              <a:rPr lang="en-US" dirty="0" err="1"/>
              <a:t>sal</a:t>
            </a:r>
            <a:r>
              <a:rPr lang="en-US" dirty="0"/>
              <a:t>) FROM emp);</a:t>
            </a:r>
          </a:p>
          <a:p>
            <a:pPr marL="0" indent="0">
              <a:buNone/>
            </a:pPr>
            <a:r>
              <a:rPr lang="en-US" dirty="0"/>
              <a:t>2. Employees earning more than SMITH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sal</a:t>
            </a:r>
            <a:r>
              <a:rPr lang="en-US" dirty="0"/>
              <a:t> &gt;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sal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FROM emp 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ename</a:t>
            </a:r>
            <a:r>
              <a:rPr lang="en-US" dirty="0"/>
              <a:t> = 'SMITH'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7514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4DAD5-CC54-0CB2-1074-4FBCFCA9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64" y="545284"/>
            <a:ext cx="10640736" cy="56316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3.Employees with highest salary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sal</a:t>
            </a:r>
            <a:r>
              <a:rPr lang="en-US" dirty="0"/>
              <a:t> = (</a:t>
            </a:r>
          </a:p>
          <a:p>
            <a:pPr marL="0" indent="0">
              <a:buNone/>
            </a:pPr>
            <a:r>
              <a:rPr lang="en-US" dirty="0"/>
              <a:t>    SELECT MAX(</a:t>
            </a:r>
            <a:r>
              <a:rPr lang="en-US" dirty="0" err="1"/>
              <a:t>sal</a:t>
            </a:r>
            <a:r>
              <a:rPr lang="en-US" dirty="0"/>
              <a:t>) FROM emp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4. Employees not in department 20</a:t>
            </a:r>
          </a:p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ename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deptno</a:t>
            </a:r>
            <a:r>
              <a:rPr lang="en-US" dirty="0"/>
              <a:t> NOT IN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deptno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FROM emp 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deptno</a:t>
            </a:r>
            <a:r>
              <a:rPr lang="en-US" dirty="0"/>
              <a:t> = 20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3741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95BCD-676D-D8A2-B756-1DBCD3FF8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28506"/>
            <a:ext cx="10649125" cy="564845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5.</a:t>
            </a:r>
            <a:r>
              <a:rPr lang="en-US" dirty="0"/>
              <a:t> Employees whose manager is KING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mgr</a:t>
            </a:r>
            <a:r>
              <a:rPr lang="en-US" dirty="0"/>
              <a:t> = (</a:t>
            </a:r>
          </a:p>
          <a:p>
            <a:pPr marL="0" indent="0">
              <a:buNone/>
            </a:pPr>
            <a:r>
              <a:rPr lang="en-US" dirty="0"/>
              <a:t>    SELECT </a:t>
            </a:r>
            <a:r>
              <a:rPr lang="en-US" dirty="0" err="1"/>
              <a:t>empno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FROM emp </a:t>
            </a:r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ename</a:t>
            </a:r>
            <a:r>
              <a:rPr lang="en-US" dirty="0"/>
              <a:t> = 'KING'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9481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36C1A-8BAE-F330-E778-7DE67EEC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8EFF6-01A8-14C4-BE77-DD7064026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SQL Injection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SQL Injection</a:t>
            </a:r>
            <a:r>
              <a:rPr lang="en-US" dirty="0"/>
              <a:t> is a </a:t>
            </a:r>
            <a:r>
              <a:rPr lang="en-US" b="1" dirty="0"/>
              <a:t>security attack</a:t>
            </a:r>
            <a:r>
              <a:rPr lang="en-US" dirty="0"/>
              <a:t> where a hacker inserts </a:t>
            </a:r>
            <a:r>
              <a:rPr lang="en-US" b="1" dirty="0"/>
              <a:t>malicious SQL code</a:t>
            </a:r>
            <a:r>
              <a:rPr lang="en-US" dirty="0"/>
              <a:t> into input fields</a:t>
            </a:r>
            <a:br>
              <a:rPr lang="en-US" dirty="0"/>
            </a:br>
            <a:r>
              <a:rPr lang="en-US" dirty="0"/>
              <a:t>(like </a:t>
            </a:r>
            <a:r>
              <a:rPr lang="en-US" b="1" dirty="0"/>
              <a:t>username</a:t>
            </a:r>
            <a:r>
              <a:rPr lang="en-US" dirty="0"/>
              <a:t>, </a:t>
            </a:r>
            <a:r>
              <a:rPr lang="en-US" b="1" dirty="0"/>
              <a:t>password</a:t>
            </a:r>
            <a:r>
              <a:rPr lang="en-US" dirty="0"/>
              <a:t>, </a:t>
            </a:r>
            <a:r>
              <a:rPr lang="en-US" b="1" dirty="0"/>
              <a:t>search box</a:t>
            </a:r>
            <a:r>
              <a:rPr lang="en-US" dirty="0"/>
              <a:t>) to </a:t>
            </a:r>
            <a:r>
              <a:rPr lang="en-US" b="1" dirty="0"/>
              <a:t>hack the database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It happens when </a:t>
            </a:r>
            <a:r>
              <a:rPr lang="en-US" b="1" dirty="0"/>
              <a:t>user input is not validated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384138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4B6A-3C69-346B-6FDC-6E4B891D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F470-2126-53D1-F72F-CE163A551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Simple Example (Login Form)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create table login (name varchar(25),password varchar(10));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Normal input is safe: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insert into login values("kokila","12345");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SELECT * FROM login;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5843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0B37-AD7F-65DA-0E47-90A95E44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EC2E-6103-925E-EDAB-71E000BBE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SQL Injection Input (Danger)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Sometime is happened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Username: ' OR '1'='1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Password: anything</a:t>
            </a:r>
          </a:p>
          <a:p>
            <a:pPr>
              <a:lnSpc>
                <a:spcPct val="150000"/>
              </a:lnSpc>
            </a:pPr>
            <a:r>
              <a:rPr lang="en-US" dirty="0"/>
              <a:t> '1'='1' is </a:t>
            </a:r>
            <a:r>
              <a:rPr lang="en-US" b="1" dirty="0"/>
              <a:t>always TRUE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Hacker logs in </a:t>
            </a:r>
            <a:r>
              <a:rPr lang="en-US" b="1" dirty="0"/>
              <a:t>without knowing password</a:t>
            </a: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098943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646DC-5CD7-D6A9-211C-3CDC054F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19B49-47A4-B65B-A3D1-BD474546E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Another Simple Example (DELETE Attack)</a:t>
            </a:r>
          </a:p>
          <a:p>
            <a:pPr marL="0" indent="0">
              <a:buNone/>
            </a:pPr>
            <a:r>
              <a:rPr lang="en-US" b="1" dirty="0"/>
              <a:t>DELETE FROM emp WHERE </a:t>
            </a:r>
            <a:r>
              <a:rPr lang="en-US" b="1" dirty="0" err="1"/>
              <a:t>empno</a:t>
            </a:r>
            <a:r>
              <a:rPr lang="en-US" b="1" dirty="0"/>
              <a:t> = 1 OR 1=1;</a:t>
            </a:r>
          </a:p>
          <a:p>
            <a:pPr marL="0" indent="0">
              <a:buNone/>
            </a:pPr>
            <a:r>
              <a:rPr lang="en-IN" b="1" dirty="0"/>
              <a:t>All rows deleted</a:t>
            </a:r>
          </a:p>
        </p:txBody>
      </p:sp>
    </p:spTree>
    <p:extLst>
      <p:ext uri="{BB962C8B-B14F-4D97-AF65-F5344CB8AC3E}">
        <p14:creationId xmlns:p14="http://schemas.microsoft.com/office/powerpoint/2010/main" val="323415987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BD17-882E-9FDF-01E1-98C0215A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3F29B-13D2-830F-4432-82631E957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How to Prevent SQL Injection</a:t>
            </a:r>
          </a:p>
          <a:p>
            <a:pPr>
              <a:lnSpc>
                <a:spcPct val="150000"/>
              </a:lnSpc>
            </a:pPr>
            <a:r>
              <a:rPr lang="en-IN" dirty="0"/>
              <a:t>Use Prepared Statements (Best)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SELECT * FROM users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WHERE username =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AND password = ?;</a:t>
            </a:r>
          </a:p>
          <a:p>
            <a:pPr marL="0" indent="0">
              <a:lnSpc>
                <a:spcPct val="150000"/>
              </a:lnSpc>
              <a:buNone/>
            </a:pPr>
            <a:endParaRPr 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Input is treated as </a:t>
            </a:r>
            <a:r>
              <a:rPr lang="en-US" b="1" dirty="0"/>
              <a:t>data</a:t>
            </a:r>
            <a:r>
              <a:rPr lang="en-US" dirty="0"/>
              <a:t>, not SQL code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006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862E-C2B8-4D32-39EB-C0918B56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23E08-5945-9C56-01B3-33C92FE65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Validate Input</a:t>
            </a:r>
          </a:p>
          <a:p>
            <a:pPr>
              <a:lnSpc>
                <a:spcPct val="150000"/>
              </a:lnSpc>
            </a:pPr>
            <a:r>
              <a:rPr lang="en-US" dirty="0"/>
              <a:t>Allow only expected values</a:t>
            </a:r>
          </a:p>
          <a:p>
            <a:pPr>
              <a:lnSpc>
                <a:spcPct val="150000"/>
              </a:lnSpc>
            </a:pPr>
            <a:r>
              <a:rPr lang="en-US" dirty="0"/>
              <a:t>Reject special characters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Least Privilege</a:t>
            </a:r>
          </a:p>
          <a:p>
            <a:pPr>
              <a:lnSpc>
                <a:spcPct val="150000"/>
              </a:lnSpc>
            </a:pPr>
            <a:r>
              <a:rPr lang="en-US" dirty="0"/>
              <a:t>Don’t give full database access to users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4476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227BE-B6C0-2E63-BAC2-717AF451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5F2A-40FB-9A85-F666-5505D1A6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Prepared Statement in MySQL</a:t>
            </a:r>
          </a:p>
          <a:p>
            <a:r>
              <a:rPr lang="en-US" dirty="0"/>
              <a:t>In MySQL, we use:</a:t>
            </a:r>
          </a:p>
          <a:p>
            <a:r>
              <a:rPr lang="en-US" dirty="0"/>
              <a:t>PREPARE</a:t>
            </a:r>
          </a:p>
          <a:p>
            <a:r>
              <a:rPr lang="en-US" dirty="0"/>
              <a:t>SET</a:t>
            </a:r>
          </a:p>
          <a:p>
            <a:r>
              <a:rPr lang="en-US" dirty="0"/>
              <a:t>EXECUTE</a:t>
            </a:r>
          </a:p>
          <a:p>
            <a:r>
              <a:rPr lang="en-US" dirty="0"/>
              <a:t>DEALLOCATE PREPARE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0235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837E-0CC0-4BDE-9AA0-DF98624D1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5125-8CDA-B78A-E6C8-C132AE721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Example 1: Using your emp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 1: Prepare the SQL (with placeholder ?)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 2: Set the value (user input)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 3: Execute the statement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 4: Free memory (important)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866079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193E-9900-EA9F-A190-6B59FD16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60D1-AFA9-C735-F85F-1649D626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US" dirty="0"/>
              <a:t>PREPARE </a:t>
            </a:r>
            <a:r>
              <a:rPr lang="en-US" dirty="0" err="1"/>
              <a:t>stmt</a:t>
            </a:r>
            <a:r>
              <a:rPr lang="en-US" dirty="0"/>
              <a:t> FROM</a:t>
            </a:r>
          </a:p>
          <a:p>
            <a:pPr marL="0" indent="0">
              <a:buNone/>
            </a:pPr>
            <a:r>
              <a:rPr lang="en-US" dirty="0"/>
              <a:t>'SELECT * FROM login WHERE name = ?’;</a:t>
            </a:r>
          </a:p>
          <a:p>
            <a:pPr marL="0" indent="0">
              <a:buNone/>
            </a:pPr>
            <a:r>
              <a:rPr lang="en-US" dirty="0"/>
              <a:t>SET @name = "</a:t>
            </a:r>
            <a:r>
              <a:rPr lang="en-US" dirty="0" err="1"/>
              <a:t>kokila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dirty="0"/>
              <a:t>EXECUTE </a:t>
            </a:r>
            <a:r>
              <a:rPr lang="en-US" dirty="0" err="1"/>
              <a:t>stmt</a:t>
            </a:r>
            <a:r>
              <a:rPr lang="en-US" dirty="0"/>
              <a:t> USING @name;</a:t>
            </a:r>
          </a:p>
          <a:p>
            <a:pPr marL="0" indent="0">
              <a:buNone/>
            </a:pPr>
            <a:r>
              <a:rPr lang="en-US" dirty="0"/>
              <a:t>DEALLOCATE PREPARE </a:t>
            </a:r>
            <a:r>
              <a:rPr lang="en-US" dirty="0" err="1"/>
              <a:t>stmt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1850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73B2-F9F2-064B-C3BA-7290379C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27FFB-4B83-34BF-309E-1834A283E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8113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E282-0187-6FEE-7222-8AC38C2C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061E3-9DF4-22AD-877C-BE27E7A9A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469783"/>
            <a:ext cx="10657514" cy="570718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28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4990</Words>
  <Application>Microsoft Office PowerPoint</Application>
  <PresentationFormat>Widescreen</PresentationFormat>
  <Paragraphs>825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5" baseType="lpstr">
      <vt:lpstr>Arial</vt:lpstr>
      <vt:lpstr>Calibri</vt:lpstr>
      <vt:lpstr>Calibri Light</vt:lpstr>
      <vt:lpstr>Courier New</vt:lpstr>
      <vt:lpstr>Instrument Sans Semi Bold</vt:lpstr>
      <vt:lpstr>Outfit Extra Bold</vt:lpstr>
      <vt:lpstr>Wingdings</vt:lpstr>
      <vt:lpstr>Office Theme</vt:lpstr>
      <vt:lpstr>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Subsets of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Sasikumar Janarthanan</dc:creator>
  <cp:lastModifiedBy>Sasikumar Janarthanan</cp:lastModifiedBy>
  <cp:revision>25</cp:revision>
  <dcterms:created xsi:type="dcterms:W3CDTF">2025-12-01T12:27:19Z</dcterms:created>
  <dcterms:modified xsi:type="dcterms:W3CDTF">2026-03-22T05:28:46Z</dcterms:modified>
</cp:coreProperties>
</file>